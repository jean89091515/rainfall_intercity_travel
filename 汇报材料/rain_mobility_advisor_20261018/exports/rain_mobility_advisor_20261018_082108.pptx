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  <Relationship Id="rId2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张老师好，今天想跟您汇报一下降雨和中国城际人口流动的初步结果。先给一个数：在不受台风影响的日子里，日常降雨每年让中国城际出行少了大约 9.5 亿人次，而且这只算了稳定连接，是个下限。我想请您帮我看的是，这种又弱又普遍的影响，能不能用标度律或者统计物理的语言讲清楚。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大概分三段。第一段用十来分钟过一下两个数据和六个实证发现，包括数据、样本、识别策略，以及剂量-响应、距离、气候、动态、台风和年度损失。第二段大约八分钟，是我新做的三个统计物理初探：距离衰减指数、涨落分布和城市的“磁化率”。第三段是重点，大约十五分钟，我列了七个候选问题，想请您判断哪些值得做、用什么方法、还缺什么数据。之前微信里说整理后再详细汇报，这就是那次汇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先说为什么做。已有研究大致两类：一类是日常天气和城市内部出行，比如公交、出租、骑行，但多是单城市、单交通方式，看不到城市之间；另一类是极端事件下的人类移动韧性，比如飓风 Sandy、2021 年郑州暴雨、台风“玛娃”，一次只看一个事件，看不到普通降雨。所以“城市之间 × 日常降雨”基本是空白，具体缺五样：普通小雨中雨的累计影响、起点下雨和终点下雨的区别、远近和交通方式的差异、南北气候差异下同样的雨是否一样、以及台风和普通降雨没有分开。时间窗口也合适，DIMNet-CPC 今年 9 月刚在 Scientific Data 发表，全国逐日城际 OD 第一次可以用。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两个主数据。第一个是 DIMNet-CPC，Xu 等 2026 年发在 Scientific Data 上，覆盖 366 个地级及以上单元、2020 到 2025 年的逐日有向 OD 流量，单位是人次。它是把百度迁徙的相对强度校准到全国逐日旅客统计，所以流量等于一个全国当日系数 k_t 乘以连接的相对强度；k_t 每天对所有连接一样，会被日期固定效应吸收。要注意它只披露每个城市前 100 名的流出流入地，所以缺失表示没披露，不是零。第二个是地联社整理的 ERA5-Land 降水，在 2421 个气象站位置提取，0.1 度大约 9 公里，1950 到 2026 年，按北京时日累加，城市取站点均值；其中 36 个沿海海岛站落在海洋格点上全是零，我剔除后剩 2385 站，另外再分析数据会高估小雨频率、低估极端。辅助数据是 IBTrACS 台风路径，气旋中心包括残余低压在城市 500 公里以内就记为台风日，改成 300 公里结果基本不变。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为了避开披露门槛带来的截断偏误，我只用“稳定连接”，也就是至少 95% 的天数都有披露的连接。曾经出现过的 13 万多条有向连接里，这样的连接有 26,442 条，但承载了 98% 的已披露流量。时段是 2023 到 2025 年共 1096 天，没有缺失日、也没有疫情管控，一共大约 2878 万个连接-日，365 个城市，三沙因为没有可靠降水序列剔除了。值得一提的是，150 公里以内的连接只占 6%，却承载了将近一半的流量。连接日流量中位数 709 人次，距离中位数 552 公里；年降水 800 毫米以上的湿润区有 225 个城市，大致在秦岭—淮河以南。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识别的思路很简单：同一条连接，比较下雨的日子和不下雨的日子。因变量是对数流量，起点和终点的降雨各按国标分五档，以无雨日为参照，再控制前七天的累计降水，避免把连阴雨的影响算进当天。固定效应里，连接乘年月吸收季节和趋势，连接乘星期吸收通勤和周末，日期吸收节假日、春运和那个全国系数 k_t，剩下的逐日降雨变化就近似随机。主口径用非台风日，也就是两端 500 公里内都没有气旋，大约 2807 万个观测；标准误按起点、终点双向聚类，在 30% 的连接样本上还做了加日期的三向聚类。稳健性方面，泊松估计、连接乘周固定效应、台风半径改 300 公里、去掉前期降水控制，主结果都很稳。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第一个发现：流量随雨强平滑下降。小雨大约减少 1%，起点和终点分别是 −0.6% 和 −1.0%；暴雨减少 4% 到 6%，起点 −4.0%、终点 −6.0%，中雨和大雨在中间。终点下雨的影响略大一些，≥100 毫米时终点是 −8.8%，起点 −5.5% 不显著，因为非台风日达到这个量级的城市-日只有 50 个。城市层面的总流出也一样，小雨 −1.9%、暴雨 −6.3%；做三向聚类以后，除了起点 ≥100 毫米这一档，其他都还显著。从物理的角度看，这就是一条光滑的响应函数，降雨像一个外场，响应随场强单调增大，这对应后面的 Q3 和 Q4。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第二个发现：越短的出行越怕雨。起点暴雨让 150 公里以内的连接减少 8.4%，而 1000 公里以上的只减少 2.0%，中雨也是 −4.1% 对 −0.8%。终点暴雨从 150 公里以内的 −8.5% 降到 500 到 1000 公里的 −4.3%，超过 1000 公里又略有回升到 −6.7%。因为短途连接既最敏感、又承载最多流量，所以非台风日的损失有 89% 落在 300 公里以内的连接上。用物理的话说，降雨改变的是距离衰减的形状，后面的初探 A 会具体算这个指数的变化，对应 Q2。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第三个发现：同样的雨，越干的地方越敏感。暴雨时，年降水不到 800 毫米的起点城市流量减少 6.0%，湿润区只减少 3.3%；小雨时差别更明显，干燥区 −1.2%，湿润区基本是零。如果改用各城市自己的降雨分位数来分档，差距会缩小但不消失，比如本地 P95 到 P99 的雨，干燥区 −3.4%、湿润区 −1.4%。分区域看，暴雨时东北最敏感 −8.3%，其次西部 −5.2%、东部 −3.6%，中部最弱 −2.5%。这在物理上像是一种部分的“数据塌缩”，对应 Q3；敏感度更多由气候决定而不是规模，对应 Q1。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第四个发现：下雨是取消出行，而不是推迟。起点出现 25 毫米以上的雨，流量当天减少 1.6%，次日减少 2.2%，之后就恢复了，没有补偿性的反弹；终点下雨当天 −2.6%、次日 −1.6%，小的负效应持续到第三天。有意思的是，雨前一天流向目的地的流量已经略降 0.8%，p 值 0.06，像是大家在看天气预报。需要说明的是安慰剂检验：中雨干净，但 25 毫米以上在前后第七天还有大约 1 个百分点的残余关联，说明还有季节性混杂，所以小雨的结论要谨慎。物理上这是一个一到两天的弛豫过程，恢复函数是什么形状，就是 Q6。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第五个发现：台风日是另一回事。台风日只占连接-日的 2.5%，但 ≥100 毫米的城市-日里有 70% 是台风日。如果不剔除，终点 ≥100 毫米的效应是 −27.1%，剔除以后只有 −8.8%；起点从 −22.4% 变成 −5.5%。同样的雨在台风日还会额外再降 24%（起点）和 32%（终点），受台风影响的终点即使只下小雨也额外降 6.5%，这些都指向预警、停运这类供给侧冲击。混在一起估计还会制造两个假象：长途流量也大幅下降，以及湿润区反而更敏感。物理上，台风是强而空间相关的扰动，对应 Q5 和 Q7。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第六个发现，把效应换算成人次：非台风日，日常降雨每年让城际出行少了大约 9.54 亿人次。其中小雨 5.77 亿，占 61%；中雨 2.36 亿，占 25%；暴雨加大暴雨只有 0.37 亿，占 4%。也就是说损失来自频繁的小扰动，仅中雨一项就是暴雨加大暴雨的大约六倍；当然小雨这部分最不确定，因为系数小、再分析又高估小雨频率。台风日的降雨另外减少 1.27 亿，合计 10.8 亿，占无雨反事实的 2.2%，只算稳定连接，所以是下限。这些结果已经写成英文 TR Part D 初稿和中英文 Word 稿，还要补气温控制和雨量计数据的稳健性。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接下来是第二段，想换一种语言看同一组结果。如果把降雨强度看成外场 h，把对数流量的平均变化看成响应，那么单位雨强引起的响应就是一个磁化率 χ。这样剂量-响应曲线就是响应函数；效应随距离衰减，可以理解为距离衰减指数 γ 被外场改变；按本地分位数分档，对应重标度和数据塌缩；当天、次日、恢复对应弛豫函数；台风则是强而空间相关的扰动。后面三个初探都是这几天新做的，还没有仔细推敲，主要是想请您看看这样的对应是否成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初探 A 是引力模型的距离衰减。在稳定连接上去掉起点和终点固定效应以后，流量随距离按幂律衰减，指数 γ 大约是 2.13；如果用城市流动“质量”代替固定效应，得到流量正比于起点质量的 0.59 次方、终点质量的 0.58 次方、距离的负 1.51 次方。降雨效应对对数距离的斜率，就是降雨对指数的改变 Δγ：终点中雨大约 +0.014，大雨 +0.017，暴雨 +0.018，起点暴雨 +0.030，也就是雨天的距离衰减变平了大约 0.02。另外在 1000 公里以上衰减明显变平，像是存在一个交叉尺度，可能对应高铁和航空接管。这和 Q2 直接相关：降雨改的是指数、质量项，还是交叉尺度？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初探 B 看的是涨落分布。去掉连接乘年月、全国日期、连接乘星期的均值以后，逐日对数偏差的标准差大约 0.35，而暴雨及以上的平均位移只有大约 −0.04，信噪比只有 0.1 左右，所以降雨是一个很弱的外场。分布中心是指数型的尾巴，在对数坐标下近似三角形；降雨把分布整体左移，主要增加 10% 到 45% 幅度的下降，比如下降超过 30% 的概率从两端无雨的 10.3% 增加到暴雨及以上的 12.5%。但更大的下降，超过 45% 的，在无雨日也一样多，主要来自节假日等其他冲击。这对应 Q4：自发涨落和对降雨的响应之间有没有类似涨落-耗散的关系。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初探 C 给每个城市算一个“磁化率”：25 毫米以上的日子相对无雨日，城市总流出变化多少。只用非台风日、至少有 10 个大雨日的城市，一共 270 个，中位数是 −5.1%。结果很有意思：敏感度几乎不随城市流动规模变化，规模每增加 10 倍只变 0.8 个百分点；但强烈依赖气候，年降水每增加 10 倍，敏感度减弱 12.7 个百分点，两个变量同时放进去结论不变。也就是说没有明显的规模标度，却有很强的“气候标度”，像是系统对外场的响应被它长期经历的外场强度适应掉了，这对应 Q1 和 Q3。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段是重点，我把可能的问题分成三组七个。第一组是标度与模型：Q1，雨天时城际流动的人口标度指数会不会变；Q2，降雨改的是距离衰减指数、质量项还是交叉尺度。第二组是普适性与响应：Q3，用本地气候尺度重标度以后，各城市的剂量-响应能不能塌缩到一条主曲线；Q4，自发涨落和敏感度之间有没有类似涨落-耗散的关系。第三组是网络与动力学：Q5，相关扰动下网络怎么渗流、怎么向第三方城市级联；Q6，恢复是指数型还是幂律型；Q7，损失分布有没有幂律尾。每个问题我都标了对应的证据页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先看前四个。Q1 的现象是敏感度几乎与规模无关，框架是城市标度律，比较雨天和晴天的指数，看损失随规模是超线性还是次线性，需要补七普人口。Q2 的现象是效应随距离衰减、Δγ 大约 0.02、1000 公里以上有交叉，可以对比引力模型和带中间机会的辐射模型，看降雨是不是缩小了“有效机会半径”，关键是要有一个机制模型推出 0.02 这个量级。Q3 是重标度以后差距缩小但不消失，可以试 P99、重现期或标准化距平作为标度变量，现有数据就能起步。Q4 是自发涨落远大于平均响应，可以用线性响应和涨落-耗散的类比，看敏感度在连接间的分布是否重尾，需要先估计连接层面的响应。总体上 Q1 到 Q4 都能用现有数据起步，只有 Q1 需要补人口。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三个方法上更“物理”一些。Q5：降雨场空间相关很强，同一天很多城市同时下雨，台风更是强相关扰动，可以研究网络上的相关扰动，比如渗流、巨连通分量、向第三方城市的级联，需要重构逐日网络、估计降雨场的空间相关长度。Q6：扰动后一到两天恢复、没有反弹，可以看弛豫函数是指数型还是幂律型，并和 Wang 和 Taylor 关于扰动下移动规律仍然保持的结论联系起来，需要按降雨事件对齐的恢复曲线。Q7：小雨中雨占了非台风日损失的 86%，台风是少数大扰动，能否像地震的 G-R 律那样建立强度、频率、损失的统一描述，看损失分布有没有幂律尾，需要事件层面的损失分布。这三个需要更多建模工作。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最后想请您帮我判断先做哪一两个。左边是我按研究价值和可行性做的初步摆放，只是我的主观判断，不是数据：我觉得 Q2 和 Q3 价值高、现有数据就能做，Q4 价值高但要多一些工作，Q5 价值高但可行性低，Q6、Q7 比较好做，Q1 需要补人口。想请教您四件事：哪一两个问题最值得做成统计物理或复杂系统风格的论文，和现在的 TR-D 实证稿怎么分工；固定效应给的是平均响应，统计物理的做法该怎么补，是看分布、标度、塌缩还是建模型；还需要补哪些数据，比如人口、气温、雨量计观测、交通方式；以及投稿方向上您有什么建议。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接下来的计划是三步。近期先补气温控制和雨量计数据的稳健性，把 TR Part D 的实证稿完善好。然后按您的意见挑一到两个标度律或统计物理问题，先做最小可行的分析。最后再定论文定位和投稿方向，下次组会再汇报。总的来说，我想把降雨这个弱而普遍的外场的规律，用物理的语言讲清楚，谢谢老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ain_mobility_adviso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ain_mobility_adviso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2a4526d44a0073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757cbb30ac1c56e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eaa79a670d36cee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e33fac74d0e01ab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e82877e42a66ebf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1b6d948be1f0f6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7e83773a8367e43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10cba99add64d97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82d3496eb60ae88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ff4da66807d7f8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52450" y="771481"/>
            <a:ext cx="2976787" cy="4757020"/>
            <a:chOff x="552450" y="771481"/>
            <a:chExt cx="2976787" cy="4757020"/>
          </a:xfrm>
        </p:grpSpPr>
        <p:grpSp>
          <p:nvGrpSpPr>
            <p:cNvPr id="5" name="Group 5"/>
            <p:cNvGrpSpPr/>
            <p:nvPr/>
          </p:nvGrpSpPr>
          <p:grpSpPr>
            <a:xfrm>
              <a:off x="653328" y="771481"/>
              <a:ext cx="384897" cy="333419"/>
              <a:chOff x="653328" y="771481"/>
              <a:chExt cx="384897" cy="333419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53328" y="771481"/>
                <a:ext cx="384897" cy="257219"/>
              </a:xfrm>
              <a:custGeom>
                <a:avLst/>
                <a:gdLst/>
                <a:ahLst/>
                <a:cxnLst/>
                <a:rect l="l" t="t" r="r" b="b"/>
                <a:pathLst>
                  <a:path w="384897" h="257219">
                    <a:moveTo>
                      <a:pt x="89622" y="257219"/>
                    </a:moveTo>
                    <a:cubicBezTo>
                      <a:pt x="40125" y="257219"/>
                      <a:pt x="0" y="218838"/>
                      <a:pt x="0" y="171494"/>
                    </a:cubicBezTo>
                    <a:cubicBezTo>
                      <a:pt x="0" y="124149"/>
                      <a:pt x="40125" y="85769"/>
                      <a:pt x="89622" y="85769"/>
                    </a:cubicBezTo>
                    <a:cubicBezTo>
                      <a:pt x="101312" y="33689"/>
                      <a:pt x="157698" y="0"/>
                      <a:pt x="215563" y="10521"/>
                    </a:cubicBezTo>
                    <a:cubicBezTo>
                      <a:pt x="273429" y="21042"/>
                      <a:pt x="310862" y="71789"/>
                      <a:pt x="299172" y="123869"/>
                    </a:cubicBezTo>
                    <a:lnTo>
                      <a:pt x="318222" y="123869"/>
                    </a:lnTo>
                    <a:cubicBezTo>
                      <a:pt x="355045" y="123869"/>
                      <a:pt x="384897" y="153720"/>
                      <a:pt x="384897" y="190544"/>
                    </a:cubicBezTo>
                    <a:cubicBezTo>
                      <a:pt x="384897" y="227367"/>
                      <a:pt x="355045" y="257219"/>
                      <a:pt x="318222" y="257219"/>
                    </a:cubicBez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19150" y="933450"/>
                <a:ext cx="76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71450">
                    <a:moveTo>
                      <a:pt x="0" y="0"/>
                    </a:moveTo>
                    <a:lnTo>
                      <a:pt x="0" y="38100"/>
                    </a:lnTo>
                    <a:moveTo>
                      <a:pt x="0" y="95250"/>
                    </a:moveTo>
                    <a:lnTo>
                      <a:pt x="0" y="133350"/>
                    </a:lnTo>
                    <a:moveTo>
                      <a:pt x="76200" y="38100"/>
                    </a:moveTo>
                    <a:lnTo>
                      <a:pt x="76200" y="76200"/>
                    </a:lnTo>
                    <a:moveTo>
                      <a:pt x="76200" y="133350"/>
                    </a:moveTo>
                    <a:lnTo>
                      <a:pt x="76200" y="1714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552450" y="2259330"/>
              <a:ext cx="2976787" cy="2419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9.5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6270" y="3910012"/>
              <a:ext cx="16001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亿人次 / 年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47700" y="4476750"/>
              <a:ext cx="533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0842" y="4731068"/>
              <a:ext cx="24140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  <a:t>日常降雨每年让中国城际出行</a:t>
              </a:r>
              <a:br/>
              <a:r>
                <a:rPr lang="zh-CN" sz="1350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  <a:t>减少约 9.5 亿人次</a:t>
              </a:r>
              <a:br/>
              <a:r>
                <a:rPr lang="zh-CN" sz="1350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  <a:t>（非台风日，稳定连接，下限）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06112" y="2171700"/>
            <a:ext cx="5367528" cy="1816417"/>
            <a:chOff x="4706112" y="2171700"/>
            <a:chExt cx="5367528" cy="1816417"/>
          </a:xfrm>
        </p:grpSpPr>
        <p:sp>
          <p:nvSpPr>
            <p:cNvPr id="11" name="Rectangle 11"/>
            <p:cNvSpPr/>
            <p:nvPr/>
          </p:nvSpPr>
          <p:spPr>
            <a:xfrm>
              <a:off x="4724400" y="2171700"/>
              <a:ext cx="6096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06112" y="24688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降雨与中国城际人口流动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12970" y="3148012"/>
              <a:ext cx="4023360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初步结果，以及想请教张老师的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标度律 / 统计物理问题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16018" y="4470082"/>
            <a:ext cx="5369928" cy="322707"/>
            <a:chOff x="4716018" y="4470082"/>
            <a:chExt cx="5369928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4716018" y="4470082"/>
              <a:ext cx="536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这种“弱而普遍的外场”，能不能用物理的语言讲清楚？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16018" y="5448300"/>
            <a:ext cx="6942582" cy="804101"/>
            <a:chOff x="4716018" y="5448300"/>
            <a:chExt cx="6942582" cy="804101"/>
          </a:xfrm>
        </p:grpSpPr>
        <p:sp>
          <p:nvSpPr>
            <p:cNvPr id="17" name="Line 17"/>
            <p:cNvSpPr/>
            <p:nvPr/>
          </p:nvSpPr>
          <p:spPr>
            <a:xfrm>
              <a:off x="4724400" y="5448300"/>
              <a:ext cx="6934200" cy="9525"/>
            </a:xfrm>
            <a:custGeom>
              <a:avLst/>
              <a:gdLst/>
              <a:ahLst/>
              <a:cxnLst/>
              <a:rect l="l" t="t" r="r" b="b"/>
              <a:pathLst>
                <a:path w="6934200" h="9525">
                  <a:moveTo>
                    <a:pt x="0" y="0"/>
                  </a:moveTo>
                  <a:lnTo>
                    <a:pt x="6934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16018" y="5651182"/>
              <a:ext cx="15938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汇报人：[姓名]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17542" y="59883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导师交流 · 2026 年 10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377190" cy="264033"/>
            <a:chOff x="678942" y="444818"/>
            <a:chExt cx="377190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开场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3865626" cy="557403"/>
            <a:chOff x="671322" y="759142"/>
            <a:chExt cx="3865626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今天想和老师聊三件事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685800" y="2247900"/>
            <a:ext cx="3429000" cy="2019300"/>
          </a:xfrm>
          <a:prstGeom prst="homePlate">
            <a:avLst>
              <a:gd name="adj" fmla="val 22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457700" y="2247900"/>
            <a:ext cx="3429000" cy="2019300"/>
          </a:xfrm>
          <a:prstGeom prst="homePlate">
            <a:avLst>
              <a:gd name="adj" fmla="val 22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229600" y="2247900"/>
            <a:ext cx="3429000" cy="2019300"/>
          </a:xfrm>
          <a:prstGeom prst="homePlate">
            <a:avLst>
              <a:gd name="adj" fmla="val 22000"/>
            </a:avLst>
          </a:prstGeom>
          <a:solidFill>
            <a:schemeClr val="accent2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902970" y="2500312"/>
            <a:ext cx="2201418" cy="1580389"/>
            <a:chOff x="902970" y="2500312"/>
            <a:chExt cx="2201418" cy="1580389"/>
          </a:xfrm>
        </p:grpSpPr>
        <p:sp>
          <p:nvSpPr>
            <p:cNvPr id="10" name="TextBox 10"/>
            <p:cNvSpPr txBox="1"/>
            <p:nvPr/>
          </p:nvSpPr>
          <p:spPr>
            <a:xfrm>
              <a:off x="902970" y="2500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5256" y="29298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两个数据与六个发现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3321368"/>
              <a:ext cx="199396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数据、样本、识别策略；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剂量-响应、距离、气候、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动态、台风、年度损失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74870" y="2500312"/>
            <a:ext cx="1959102" cy="1580389"/>
            <a:chOff x="4674870" y="2500312"/>
            <a:chExt cx="1959102" cy="1580389"/>
          </a:xfrm>
        </p:grpSpPr>
        <p:sp>
          <p:nvSpPr>
            <p:cNvPr id="14" name="TextBox 14"/>
            <p:cNvSpPr txBox="1"/>
            <p:nvPr/>
          </p:nvSpPr>
          <p:spPr>
            <a:xfrm>
              <a:off x="4674870" y="2500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77156" y="29298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三个统计物理初探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79442" y="3321368"/>
              <a:ext cx="135959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距离衰减指数 γ、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涨落分布、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城市“磁化率”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46770" y="2500312"/>
            <a:ext cx="2075688" cy="1580389"/>
            <a:chOff x="8446770" y="2500312"/>
            <a:chExt cx="2075688" cy="1580389"/>
          </a:xfrm>
        </p:grpSpPr>
        <p:sp>
          <p:nvSpPr>
            <p:cNvPr id="18" name="TextBox 18"/>
            <p:cNvSpPr txBox="1"/>
            <p:nvPr/>
          </p:nvSpPr>
          <p:spPr>
            <a:xfrm>
              <a:off x="8446770" y="2500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49056" y="29298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七个候选问题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1342" y="3321368"/>
              <a:ext cx="20711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请老师判断：哪些值得做、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用什么方法、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还缺什么数据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7542" y="4540568"/>
            <a:ext cx="9010049" cy="264033"/>
            <a:chOff x="907542" y="4540568"/>
            <a:chExt cx="9010049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907542" y="45405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 12 分钟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79442" y="454056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 8 分钟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1342" y="4540568"/>
              <a:ext cx="14662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15 分钟 · 重点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6656" y="5295900"/>
            <a:ext cx="10981944" cy="614934"/>
            <a:chOff x="676656" y="5295900"/>
            <a:chExt cx="10981944" cy="614934"/>
          </a:xfrm>
        </p:grpSpPr>
        <p:sp>
          <p:nvSpPr>
            <p:cNvPr id="26" name="Line 26"/>
            <p:cNvSpPr/>
            <p:nvPr/>
          </p:nvSpPr>
          <p:spPr>
            <a:xfrm>
              <a:off x="685800" y="5295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6656" y="5558790"/>
              <a:ext cx="80631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之前微信里说“把这个结果整理整理后再详细跟您汇报”——这就是那次汇报。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553028" cy="264033"/>
            <a:chOff x="678942" y="444818"/>
            <a:chExt cx="155302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为什么做与数据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145431" cy="557403"/>
            <a:chOff x="671322" y="759142"/>
            <a:chExt cx="8145431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14543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降雨如何影响“城市之间”的出行，还缺全国证据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1409700"/>
            <a:ext cx="5334000" cy="2019300"/>
            <a:chOff x="685800" y="1409700"/>
            <a:chExt cx="5334000" cy="2019300"/>
          </a:xfrm>
        </p:grpSpPr>
        <p:sp>
          <p:nvSpPr>
            <p:cNvPr id="7" name="Rectangle 7"/>
            <p:cNvSpPr/>
            <p:nvPr/>
          </p:nvSpPr>
          <p:spPr>
            <a:xfrm>
              <a:off x="685800" y="1409700"/>
              <a:ext cx="5334000" cy="201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625918"/>
              <a:ext cx="953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已有研究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1939290"/>
              <a:ext cx="2734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日常天气 × 城市内部出行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23745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公交、出租、骑行；多为单城市、单交通方式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9270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局限：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只看城内，不看城市之间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409700"/>
            <a:ext cx="5334000" cy="2019300"/>
            <a:chOff x="6324600" y="1409700"/>
            <a:chExt cx="5334000" cy="20193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409700"/>
              <a:ext cx="5334000" cy="201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84442" y="1625918"/>
              <a:ext cx="953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已有研究 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82156" y="1939290"/>
              <a:ext cx="2734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极端事件 × 人类移动韧性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82918" y="2374582"/>
              <a:ext cx="42062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飓风 Sandy、2021 郑州暴雨、台风“玛娃”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82918" y="29270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局限：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一次一个事件，看不到普通降雨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3657600"/>
            <a:ext cx="10972800" cy="2247900"/>
            <a:chOff x="685800" y="3657600"/>
            <a:chExt cx="10972800" cy="2247900"/>
          </a:xfrm>
        </p:grpSpPr>
        <p:sp>
          <p:nvSpPr>
            <p:cNvPr id="19" name="Rectangle 19"/>
            <p:cNvSpPr/>
            <p:nvPr/>
          </p:nvSpPr>
          <p:spPr>
            <a:xfrm>
              <a:off x="685800" y="3657600"/>
              <a:ext cx="10972800" cy="22479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3657600"/>
              <a:ext cx="109728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5256" y="3920490"/>
              <a:ext cx="41879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本研究补的缺口：城市之间 × 日常降雨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905256" y="4415790"/>
              <a:ext cx="1484376" cy="1024699"/>
              <a:chOff x="905256" y="4415790"/>
              <a:chExt cx="1484376" cy="102469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90525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6018" y="4812982"/>
                <a:ext cx="14836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普通小雨中雨的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累计影响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57906" y="4415790"/>
              <a:ext cx="1149096" cy="1024699"/>
              <a:chOff x="3057906" y="4415790"/>
              <a:chExt cx="1149096" cy="102469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305790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058668" y="4812982"/>
                <a:ext cx="114833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起点下雨 vs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终点下雨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210556" y="4415790"/>
              <a:ext cx="1274826" cy="1024699"/>
              <a:chOff x="5210556" y="4415790"/>
              <a:chExt cx="1274826" cy="1024699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21055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211318" y="4812982"/>
                <a:ext cx="127406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远近不同，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交通方式不同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363206" y="4415790"/>
              <a:ext cx="1484376" cy="1024699"/>
              <a:chOff x="7363206" y="4415790"/>
              <a:chExt cx="1484376" cy="1024699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36320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363968" y="4812982"/>
                <a:ext cx="14836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南北气候差异：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同样的雨一样吗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515856" y="4415790"/>
              <a:ext cx="1484376" cy="1024699"/>
              <a:chOff x="9515856" y="4415790"/>
              <a:chExt cx="1484376" cy="1024699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951585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516618" y="4812982"/>
                <a:ext cx="14836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台风与普通降雨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没有分开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78942" y="6159818"/>
            <a:ext cx="7842082" cy="264033"/>
            <a:chOff x="678942" y="6159818"/>
            <a:chExt cx="7842082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678942" y="6159818"/>
              <a:ext cx="7842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时间窗口：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DIMNet-CPC 2026 年 9 月刚在 Scientific Data 发表，全国逐日城际 OD 第一次可用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553028" cy="264033"/>
            <a:chOff x="678942" y="444818"/>
            <a:chExt cx="155302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为什么做与数据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9434878" cy="557403"/>
            <a:chOff x="671322" y="759142"/>
            <a:chExt cx="9434878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943487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两个主数据：逐日 OD 流量 + 站点位置的再分析降水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8180" y="1409700"/>
            <a:ext cx="4274820" cy="4648200"/>
            <a:chOff x="678180" y="1409700"/>
            <a:chExt cx="4274820" cy="4648200"/>
          </a:xfrm>
        </p:grpSpPr>
        <p:sp>
          <p:nvSpPr>
            <p:cNvPr id="7" name="Rectangle 7"/>
            <p:cNvSpPr/>
            <p:nvPr/>
          </p:nvSpPr>
          <p:spPr>
            <a:xfrm>
              <a:off x="685800" y="1409700"/>
              <a:ext cx="426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2950" y="1662112"/>
              <a:ext cx="228600" cy="257176"/>
              <a:chOff x="742950" y="1662112"/>
              <a:chExt cx="228600" cy="2571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42950" y="16621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42950" y="17049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2950" y="17907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33856" y="1691640"/>
              <a:ext cx="1465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DIMNet-CPC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2102168"/>
              <a:ext cx="2327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逐日城际 OD 流量 · 主数据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2505075"/>
              <a:ext cx="3044190" cy="151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Xu et al. 2026，Scientific Data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366 个地级及以上单元，2020—2025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逐日有向 OD 流量（人次）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百度迁徙相对强度 × 全国逐日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旅客统计（校准）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5800" y="4152900"/>
              <a:ext cx="426720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156" y="4282440"/>
              <a:ext cx="1385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</a:t>
              </a:r>
              <a:r>
                <a:rPr lang="zh-CN" sz="1050" baseline="-25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ijt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= k</a:t>
              </a:r>
              <a:r>
                <a:rPr lang="zh-CN" sz="1050" baseline="-25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· q</a:t>
              </a:r>
              <a:r>
                <a:rPr lang="zh-CN" sz="1050" baseline="-25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ijt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4597718"/>
              <a:ext cx="3335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</a:t>
              </a:r>
              <a:r>
                <a:rPr lang="zh-CN" sz="1050" baseline="-25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为全国当日系数，被日期固定效应吸收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5143500"/>
              <a:ext cx="381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0392" y="5207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0392" y="5493068"/>
              <a:ext cx="265404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只披露每城前 100 名流出 / 流入地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缺失 = 未披露，不是 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50180" y="1409700"/>
            <a:ext cx="3436620" cy="4648200"/>
            <a:chOff x="5250180" y="1409700"/>
            <a:chExt cx="3436620" cy="4648200"/>
          </a:xfrm>
        </p:grpSpPr>
        <p:sp>
          <p:nvSpPr>
            <p:cNvPr id="22" name="Rectangle 22"/>
            <p:cNvSpPr/>
            <p:nvPr/>
          </p:nvSpPr>
          <p:spPr>
            <a:xfrm>
              <a:off x="5257800" y="1409700"/>
              <a:ext cx="3429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290596" y="1683511"/>
              <a:ext cx="288672" cy="250065"/>
              <a:chOff x="5290596" y="1683511"/>
              <a:chExt cx="288672" cy="25006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290596" y="1683511"/>
                <a:ext cx="288672" cy="192914"/>
              </a:xfrm>
              <a:custGeom>
                <a:avLst/>
                <a:gdLst/>
                <a:ahLst/>
                <a:cxnLst/>
                <a:rect l="l" t="t" r="r" b="b"/>
                <a:pathLst>
                  <a:path w="288672" h="192914">
                    <a:moveTo>
                      <a:pt x="67216" y="192914"/>
                    </a:moveTo>
                    <a:cubicBezTo>
                      <a:pt x="30094" y="192914"/>
                      <a:pt x="0" y="164129"/>
                      <a:pt x="0" y="128620"/>
                    </a:cubicBezTo>
                    <a:cubicBezTo>
                      <a:pt x="0" y="93112"/>
                      <a:pt x="30094" y="64326"/>
                      <a:pt x="67216" y="64326"/>
                    </a:cubicBezTo>
                    <a:cubicBezTo>
                      <a:pt x="75984" y="25267"/>
                      <a:pt x="118273" y="0"/>
                      <a:pt x="161672" y="7891"/>
                    </a:cubicBezTo>
                    <a:cubicBezTo>
                      <a:pt x="205072" y="15782"/>
                      <a:pt x="233146" y="53842"/>
                      <a:pt x="224379" y="92901"/>
                    </a:cubicBezTo>
                    <a:lnTo>
                      <a:pt x="238666" y="92901"/>
                    </a:lnTo>
                    <a:cubicBezTo>
                      <a:pt x="266284" y="92901"/>
                      <a:pt x="288672" y="115290"/>
                      <a:pt x="288672" y="142908"/>
                    </a:cubicBezTo>
                    <a:cubicBezTo>
                      <a:pt x="288672" y="170525"/>
                      <a:pt x="266284" y="192914"/>
                      <a:pt x="238666" y="192914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414962" y="1804988"/>
                <a:ext cx="5715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28588">
                    <a:moveTo>
                      <a:pt x="0" y="0"/>
                    </a:moveTo>
                    <a:lnTo>
                      <a:pt x="0" y="28575"/>
                    </a:lnTo>
                    <a:moveTo>
                      <a:pt x="0" y="71438"/>
                    </a:moveTo>
                    <a:lnTo>
                      <a:pt x="0" y="100012"/>
                    </a:lnTo>
                    <a:moveTo>
                      <a:pt x="57150" y="28575"/>
                    </a:moveTo>
                    <a:lnTo>
                      <a:pt x="57150" y="57150"/>
                    </a:lnTo>
                    <a:moveTo>
                      <a:pt x="57150" y="100012"/>
                    </a:moveTo>
                    <a:lnTo>
                      <a:pt x="57150" y="1285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705856" y="1691640"/>
              <a:ext cx="1318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ERA5-Land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50942" y="210216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站点位置提取的逐日降水 · 主数据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0180" y="2505075"/>
              <a:ext cx="2606040" cy="151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地联社整理：2421 个气象站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0.1°（约 9 km），1950—2026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按北京时日累加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 = 站内站点均值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（中位 6 站）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57800" y="5143500"/>
              <a:ext cx="381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22392" y="5207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22392" y="5493068"/>
              <a:ext cx="247402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 个海洋格点站全为 0，剔除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2385 站；高估小雨、低估极端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83980" y="1409700"/>
            <a:ext cx="2674620" cy="4648200"/>
            <a:chOff x="8983980" y="1409700"/>
            <a:chExt cx="2674620" cy="4648200"/>
          </a:xfrm>
        </p:grpSpPr>
        <p:sp>
          <p:nvSpPr>
            <p:cNvPr id="33" name="Rectangle 33"/>
            <p:cNvSpPr/>
            <p:nvPr/>
          </p:nvSpPr>
          <p:spPr>
            <a:xfrm>
              <a:off x="8991600" y="1409700"/>
              <a:ext cx="26670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024396" y="1683511"/>
              <a:ext cx="288672" cy="250064"/>
              <a:chOff x="9024396" y="1683511"/>
              <a:chExt cx="288672" cy="25006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024396" y="1683511"/>
                <a:ext cx="288672" cy="192914"/>
              </a:xfrm>
              <a:custGeom>
                <a:avLst/>
                <a:gdLst/>
                <a:ahLst/>
                <a:cxnLst/>
                <a:rect l="l" t="t" r="r" b="b"/>
                <a:pathLst>
                  <a:path w="288672" h="192914">
                    <a:moveTo>
                      <a:pt x="67216" y="192914"/>
                    </a:moveTo>
                    <a:cubicBezTo>
                      <a:pt x="30094" y="192914"/>
                      <a:pt x="0" y="164129"/>
                      <a:pt x="0" y="128620"/>
                    </a:cubicBezTo>
                    <a:cubicBezTo>
                      <a:pt x="0" y="93112"/>
                      <a:pt x="30094" y="64326"/>
                      <a:pt x="67216" y="64326"/>
                    </a:cubicBezTo>
                    <a:cubicBezTo>
                      <a:pt x="75984" y="25267"/>
                      <a:pt x="118273" y="0"/>
                      <a:pt x="161672" y="7891"/>
                    </a:cubicBezTo>
                    <a:cubicBezTo>
                      <a:pt x="205072" y="15782"/>
                      <a:pt x="233146" y="53842"/>
                      <a:pt x="224379" y="92901"/>
                    </a:cubicBezTo>
                    <a:lnTo>
                      <a:pt x="238666" y="92901"/>
                    </a:lnTo>
                    <a:cubicBezTo>
                      <a:pt x="266284" y="92901"/>
                      <a:pt x="288672" y="115290"/>
                      <a:pt x="288672" y="142908"/>
                    </a:cubicBezTo>
                    <a:cubicBezTo>
                      <a:pt x="288672" y="170525"/>
                      <a:pt x="266284" y="192914"/>
                      <a:pt x="238666" y="192914"/>
                    </a:cubicBezTo>
                    <a:lnTo>
                      <a:pt x="224379" y="192914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148762" y="1819275"/>
                <a:ext cx="4286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14300">
                    <a:moveTo>
                      <a:pt x="28575" y="0"/>
                    </a:moveTo>
                    <a:lnTo>
                      <a:pt x="0" y="57150"/>
                    </a:lnTo>
                    <a:lnTo>
                      <a:pt x="42862" y="57150"/>
                    </a:lnTo>
                    <a:lnTo>
                      <a:pt x="14288" y="11430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39656" y="1691640"/>
              <a:ext cx="9786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IBTrACS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84742" y="21021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热带气旋路径 · 辅助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83980" y="2505075"/>
              <a:ext cx="2110740" cy="151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西北太平洋路径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小时一个位置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气旋中心（含残余低压）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距城市 ≤ 500 km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记为台风日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991600" y="5143500"/>
              <a:ext cx="381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56192" y="52073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稳健性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56192" y="5493068"/>
              <a:ext cx="130816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半径改为 300 km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结果基本不变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553028" cy="264033"/>
            <a:chOff x="678942" y="444818"/>
            <a:chExt cx="155302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为什么做与数据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6405502" cy="557403"/>
            <a:chOff x="671322" y="759142"/>
            <a:chExt cx="6405502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64055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2.6 万条稳定连接承载了 98% 的流量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0466" y="1333500"/>
            <a:ext cx="6101334" cy="5102161"/>
            <a:chOff x="680466" y="1333500"/>
            <a:chExt cx="6101334" cy="510216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333500"/>
              <a:ext cx="6096000" cy="46291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680466" y="6039802"/>
              <a:ext cx="353777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365 城按 1991—2020 年平均年降水量着色（ERA5-Land）；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红线为 800 mm 湿润区界线；审图号 GS(2024)0650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43750" y="1501140"/>
            <a:ext cx="2277100" cy="1227011"/>
            <a:chOff x="7143750" y="1501140"/>
            <a:chExt cx="2277100" cy="1227011"/>
          </a:xfrm>
        </p:grpSpPr>
        <p:sp>
          <p:nvSpPr>
            <p:cNvPr id="10" name="TextBox 10"/>
            <p:cNvSpPr txBox="1"/>
            <p:nvPr/>
          </p:nvSpPr>
          <p:spPr>
            <a:xfrm>
              <a:off x="7143750" y="1501140"/>
              <a:ext cx="22771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26,442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55942" y="2216468"/>
              <a:ext cx="16767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条稳定有向连接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（≥95% 天数有披露）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67850" y="1501140"/>
            <a:ext cx="2039630" cy="1227011"/>
            <a:chOff x="9467850" y="1501140"/>
            <a:chExt cx="2039630" cy="1227011"/>
          </a:xfrm>
        </p:grpSpPr>
        <p:sp>
          <p:nvSpPr>
            <p:cNvPr id="13" name="TextBox 13"/>
            <p:cNvSpPr txBox="1"/>
            <p:nvPr/>
          </p:nvSpPr>
          <p:spPr>
            <a:xfrm>
              <a:off x="9467850" y="1501140"/>
              <a:ext cx="203963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98.0%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80042" y="2216468"/>
              <a:ext cx="13853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已披露流量由这些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连接承载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43750" y="3120390"/>
            <a:ext cx="1989010" cy="1227011"/>
            <a:chOff x="7143750" y="3120390"/>
            <a:chExt cx="1989010" cy="1227011"/>
          </a:xfrm>
        </p:grpSpPr>
        <p:sp>
          <p:nvSpPr>
            <p:cNvPr id="16" name="TextBox 16"/>
            <p:cNvSpPr txBox="1"/>
            <p:nvPr/>
          </p:nvSpPr>
          <p:spPr>
            <a:xfrm>
              <a:off x="7143750" y="3120390"/>
              <a:ext cx="183366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2878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55942" y="3835718"/>
              <a:ext cx="197681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个连接-日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（2023—2025，1096 天）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67850" y="3120390"/>
            <a:ext cx="2039630" cy="1227011"/>
            <a:chOff x="9467850" y="3120390"/>
            <a:chExt cx="2039630" cy="1227011"/>
          </a:xfrm>
        </p:grpSpPr>
        <p:sp>
          <p:nvSpPr>
            <p:cNvPr id="19" name="TextBox 19"/>
            <p:cNvSpPr txBox="1"/>
            <p:nvPr/>
          </p:nvSpPr>
          <p:spPr>
            <a:xfrm>
              <a:off x="9467850" y="3120390"/>
              <a:ext cx="203963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49.9%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80042" y="3835718"/>
              <a:ext cx="20196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&lt;150 km 的连接只占 6%，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却承载一半流量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55942" y="4838700"/>
            <a:ext cx="4502658" cy="1318451"/>
            <a:chOff x="7155942" y="4838700"/>
            <a:chExt cx="4502658" cy="1318451"/>
          </a:xfrm>
        </p:grpSpPr>
        <p:sp>
          <p:nvSpPr>
            <p:cNvPr id="22" name="Line 22"/>
            <p:cNvSpPr/>
            <p:nvPr/>
          </p:nvSpPr>
          <p:spPr>
            <a:xfrm>
              <a:off x="7162800" y="48387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55942" y="5035868"/>
              <a:ext cx="4239958" cy="112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曾出现的有向连接 132,622 条，只留稳定连接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365 城（剔除三沙），无缺失日、无疫情管控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连接日流量中位数 709 人次，距离中位数 552 km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湿润区（年降水 ≥800 mm）225 城，约秦岭—淮河以南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553028" cy="264033"/>
            <a:chOff x="678942" y="444818"/>
            <a:chExt cx="155302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为什么做与数据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469630" cy="557403"/>
            <a:chOff x="671322" y="759142"/>
            <a:chExt cx="8469630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4696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识别：同一条连接，下雨的日子和不下雨的日子比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685800" y="1333500"/>
            <a:ext cx="10972800" cy="1066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odel-formula"/>
              <p:cNvSpPr txBox="1">
                <a:spLocks noGrp="1"/>
              </p:cNvSpPr>
              <p:nvPr/>
            </p:nvSpPr>
            <p:spPr>
              <a:xfrm>
                <a:off x="685800" y="1390650"/>
                <a:ext cx="109728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ijt</m:t>
                              </m:r>
                            </m:sub>
                          </m:sSub>
                        </m:e>
                      </m:fun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  <m:e>
                          <m:sSubSup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sup>
                          </m:sSubSup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b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  <m:e>
                          <m:sSubSup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p>
                          </m:sSubSup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b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  <m:sup/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sub>
                          </m:s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b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0" name="Group 10"/>
          <p:cNvGrpSpPr/>
          <p:nvPr/>
        </p:nvGrpSpPr>
        <p:grpSpPr>
          <a:xfrm>
            <a:off x="678942" y="2540318"/>
            <a:ext cx="8259506" cy="264033"/>
            <a:chOff x="678942" y="2540318"/>
            <a:chExt cx="8259506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78942" y="2540318"/>
              <a:ext cx="8259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β 以无雨日为参照；效应报告为 100 × (exp(β) − 1)%；R 为当日降雨分档，A 为前 7 日累计降水分档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6656" y="2971800"/>
            <a:ext cx="3457194" cy="2607945"/>
            <a:chOff x="676656" y="2971800"/>
            <a:chExt cx="3457194" cy="2607945"/>
          </a:xfrm>
        </p:grpSpPr>
        <p:sp>
          <p:nvSpPr>
            <p:cNvPr id="11" name="Rectangle 11"/>
            <p:cNvSpPr/>
            <p:nvPr/>
          </p:nvSpPr>
          <p:spPr>
            <a:xfrm>
              <a:off x="685800" y="2971800"/>
              <a:ext cx="34480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6656" y="31584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降雨怎么分档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590925"/>
              <a:ext cx="2863215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国标 GB/T 28592-2012：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无雨 · 小雨 0.1–10 · 中雨 10–25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大雨 25–50 · 暴雨 50–100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≥100 mm（mm/日）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981575"/>
              <a:ext cx="28441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另有本地 P75/P90/P95/P99 分档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 7 日累计降水：控制连阴雨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39031" y="2971800"/>
            <a:ext cx="3457194" cy="2303145"/>
            <a:chOff x="4439031" y="2971800"/>
            <a:chExt cx="3457194" cy="2303145"/>
          </a:xfrm>
        </p:grpSpPr>
        <p:sp>
          <p:nvSpPr>
            <p:cNvPr id="16" name="Rectangle 16"/>
            <p:cNvSpPr/>
            <p:nvPr/>
          </p:nvSpPr>
          <p:spPr>
            <a:xfrm>
              <a:off x="4448175" y="2971800"/>
              <a:ext cx="34480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39031" y="3158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固定效应吸收什么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40555" y="3590925"/>
              <a:ext cx="216789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 × 年月 → 季节与趋势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 × 星期 → 通勤与周末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 → 节假日、春运、k</a:t>
              </a:r>
              <a:r>
                <a:rPr lang="zh-CN" sz="1050" baseline="-25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40555" y="4676775"/>
              <a:ext cx="21297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剩下的逐日降雨变化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近似随机——这是识别来源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01406" y="2971800"/>
            <a:ext cx="3457194" cy="2912745"/>
            <a:chOff x="8201406" y="2971800"/>
            <a:chExt cx="3457194" cy="2912745"/>
          </a:xfrm>
        </p:grpSpPr>
        <p:sp>
          <p:nvSpPr>
            <p:cNvPr id="21" name="Rectangle 21"/>
            <p:cNvSpPr/>
            <p:nvPr/>
          </p:nvSpPr>
          <p:spPr>
            <a:xfrm>
              <a:off x="8210550" y="2971800"/>
              <a:ext cx="3448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01406" y="3158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口径、推断与稳健性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02930" y="35909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主口径：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非台风日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02930" y="3895725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（两端 500 km 内无气旋）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02930" y="42005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2807 万观测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2930" y="4676775"/>
              <a:ext cx="2406015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 + 终点双向聚类；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30% 样本上加日期三向聚类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PPML、连接×周 FE、台风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半径 300 km、去掉前期降水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1/6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6934962" cy="557403"/>
            <a:chOff x="671322" y="759142"/>
            <a:chExt cx="6934962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69349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流量随雨强平滑下降，终点下雨影响略大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44862" y="400050"/>
            <a:ext cx="1713738" cy="308801"/>
            <a:chOff x="9944862" y="400050"/>
            <a:chExt cx="17137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99448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6299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205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0466" y="1333500"/>
            <a:ext cx="6857814" cy="4454461"/>
            <a:chOff x="680466" y="1333500"/>
            <a:chExt cx="6857814" cy="4454461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320" y="1333500"/>
              <a:ext cx="6846960" cy="410527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80466" y="5582602"/>
              <a:ext cx="43077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非台风日，2023—2025；误差线为起点、终点双向聚类 95% 置信区间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29550" y="1482090"/>
            <a:ext cx="2661094" cy="960311"/>
            <a:chOff x="7829550" y="1482090"/>
            <a:chExt cx="2661094" cy="960311"/>
          </a:xfrm>
        </p:grpSpPr>
        <p:sp>
          <p:nvSpPr>
            <p:cNvPr id="16" name="TextBox 16"/>
            <p:cNvSpPr txBox="1"/>
            <p:nvPr/>
          </p:nvSpPr>
          <p:spPr>
            <a:xfrm>
              <a:off x="7829550" y="1482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−1%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1742" y="217836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小雨：起点 −0.6%，终点 −1.0%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29550" y="2644140"/>
            <a:ext cx="3328751" cy="960311"/>
            <a:chOff x="7829550" y="2644140"/>
            <a:chExt cx="3328751" cy="960311"/>
          </a:xfrm>
        </p:grpSpPr>
        <p:sp>
          <p:nvSpPr>
            <p:cNvPr id="19" name="TextBox 19"/>
            <p:cNvSpPr txBox="1"/>
            <p:nvPr/>
          </p:nvSpPr>
          <p:spPr>
            <a:xfrm>
              <a:off x="7829550" y="2644140"/>
              <a:ext cx="332875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−4% ~ −6%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1742" y="334041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暴雨：起点 −4.0%，终点 −6.0%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41742" y="3790950"/>
            <a:ext cx="3816858" cy="1508951"/>
            <a:chOff x="7841742" y="3790950"/>
            <a:chExt cx="3816858" cy="1508951"/>
          </a:xfrm>
        </p:grpSpPr>
        <p:sp>
          <p:nvSpPr>
            <p:cNvPr id="22" name="Line 22"/>
            <p:cNvSpPr/>
            <p:nvPr/>
          </p:nvSpPr>
          <p:spPr>
            <a:xfrm>
              <a:off x="7848600" y="37909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41742" y="3969068"/>
              <a:ext cx="3554158" cy="1330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中雨 −1.9% / −1.8%，大雨 −2.3% / −3.1%</a:t>
              </a:r>
            </a:p>
            <a:p>
              <a:pPr algn="l" marL="145732" indent="-145732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≥100 mm：终点 −8.8%；起点 −5.5% 不显著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（非台风城市-日只有 50 个）</a:t>
              </a:r>
            </a:p>
            <a:p>
              <a:pPr algn="l" marL="145732" indent="-145732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城市总流出：小雨 −1.9%，暴雨 −6.3%</a:t>
              </a:r>
            </a:p>
            <a:p>
              <a:pPr algn="l" marL="145732" indent="-145732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三向聚类下，除起点 ≥100 mm 外均显著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5981700"/>
            <a:ext cx="7651623" cy="360045"/>
            <a:chOff x="685800" y="5981700"/>
            <a:chExt cx="7651623" cy="360045"/>
          </a:xfrm>
        </p:grpSpPr>
        <p:sp>
          <p:nvSpPr>
            <p:cNvPr id="25" name="Rectangle 25"/>
            <p:cNvSpPr/>
            <p:nvPr/>
          </p:nvSpPr>
          <p:spPr>
            <a:xfrm>
              <a:off x="685800" y="5981700"/>
              <a:ext cx="381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580" y="6048375"/>
              <a:ext cx="75068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这是一条光滑的响应函数——降雨像一个外场，流量的响应随场强单调增大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2/6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321918" cy="557403"/>
            <a:chOff x="671322" y="759142"/>
            <a:chExt cx="8321918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3219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越短的出行越怕雨：损失的 89% 在 300 km 以内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5330" y="1295400"/>
            <a:ext cx="10593740" cy="4114800"/>
            <a:chOff x="875330" y="1295400"/>
            <a:chExt cx="10593740" cy="411480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5330" y="1295400"/>
              <a:ext cx="10593740" cy="41148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674370" y="5624512"/>
            <a:ext cx="2564320" cy="856489"/>
            <a:chOff x="674370" y="5624512"/>
            <a:chExt cx="2564320" cy="856489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5624512"/>
              <a:ext cx="24399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−8.4% vs −2.0%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5988368"/>
              <a:ext cx="25597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起点暴雨：&lt;150 km vs &gt;1000 km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（中雨 −4.1% vs −0.8%）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55670" y="5624512"/>
            <a:ext cx="2478596" cy="856489"/>
            <a:chOff x="3455670" y="5624512"/>
            <a:chExt cx="2478596" cy="856489"/>
          </a:xfrm>
        </p:grpSpPr>
        <p:sp>
          <p:nvSpPr>
            <p:cNvPr id="16" name="TextBox 16"/>
            <p:cNvSpPr txBox="1"/>
            <p:nvPr/>
          </p:nvSpPr>
          <p:spPr>
            <a:xfrm>
              <a:off x="3455670" y="56245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−8.5% → −4.3%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60242" y="5988368"/>
              <a:ext cx="247402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终点暴雨：&lt;150 → 500–1000 km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&gt;1000 km 略回升（−6.7%）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36970" y="5624512"/>
            <a:ext cx="1655636" cy="856489"/>
            <a:chOff x="6236970" y="5624512"/>
            <a:chExt cx="1655636" cy="856489"/>
          </a:xfrm>
        </p:grpSpPr>
        <p:sp>
          <p:nvSpPr>
            <p:cNvPr id="19" name="TextBox 19"/>
            <p:cNvSpPr txBox="1"/>
            <p:nvPr/>
          </p:nvSpPr>
          <p:spPr>
            <a:xfrm>
              <a:off x="6236970" y="56245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89%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41542" y="5988368"/>
              <a:ext cx="165106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非台风日损失落在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300 km 以内的连接上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29700" y="5619750"/>
            <a:ext cx="1976628" cy="842201"/>
            <a:chOff x="9029700" y="5619750"/>
            <a:chExt cx="1976628" cy="842201"/>
          </a:xfrm>
        </p:grpSpPr>
        <p:sp>
          <p:nvSpPr>
            <p:cNvPr id="22" name="Rectangle 22"/>
            <p:cNvSpPr/>
            <p:nvPr/>
          </p:nvSpPr>
          <p:spPr>
            <a:xfrm>
              <a:off x="9029700" y="561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5242" y="5702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降雨改变的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75242" y="5950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是距离衰减的形状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75242" y="6197918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见初探 A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6858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3/6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5016627" cy="557403"/>
            <a:chOff x="671322" y="759142"/>
            <a:chExt cx="5016627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同样的雨，越干的地方越敏感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44862" y="400050"/>
            <a:ext cx="1713738" cy="308801"/>
            <a:chOff x="9944862" y="400050"/>
            <a:chExt cx="17137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99448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6299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205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1394419"/>
            <a:ext cx="10972800" cy="3916761"/>
            <a:chOff x="685800" y="1394419"/>
            <a:chExt cx="10972800" cy="3916761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394419"/>
              <a:ext cx="10972800" cy="3916761"/>
            </a:xfrm>
            <a:prstGeom prst="rect">
              <a:avLst/>
            </a:prstGeom>
          </p:spPr>
        </p:pic>
      </p:grpSp>
      <p:sp>
        <p:nvSpPr>
          <p:cNvPr id="15" name="Line 15"/>
          <p:cNvSpPr/>
          <p:nvPr/>
        </p:nvSpPr>
        <p:spPr>
          <a:xfrm>
            <a:off x="6858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674370" y="5624512"/>
            <a:ext cx="2439962" cy="856489"/>
            <a:chOff x="674370" y="5624512"/>
            <a:chExt cx="2439962" cy="856489"/>
          </a:xfrm>
        </p:grpSpPr>
        <p:sp>
          <p:nvSpPr>
            <p:cNvPr id="16" name="TextBox 16"/>
            <p:cNvSpPr txBox="1"/>
            <p:nvPr/>
          </p:nvSpPr>
          <p:spPr>
            <a:xfrm>
              <a:off x="674370" y="5624512"/>
              <a:ext cx="24399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−6.0% vs −3.3%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942" y="5988368"/>
              <a:ext cx="201968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暴雨：干燥 vs 湿润区起点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（小雨 −1.2% vs 0.0%）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55670" y="5624512"/>
            <a:ext cx="2439962" cy="856489"/>
            <a:chOff x="3455670" y="5624512"/>
            <a:chExt cx="2439962" cy="856489"/>
          </a:xfrm>
        </p:grpSpPr>
        <p:sp>
          <p:nvSpPr>
            <p:cNvPr id="19" name="TextBox 19"/>
            <p:cNvSpPr txBox="1"/>
            <p:nvPr/>
          </p:nvSpPr>
          <p:spPr>
            <a:xfrm>
              <a:off x="3455670" y="5624512"/>
              <a:ext cx="24399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−3.4% vs −1.4%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60242" y="5988368"/>
              <a:ext cx="22168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 P95–P99：干燥 vs 湿润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重标度后差距缩小、不消失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36970" y="5624512"/>
            <a:ext cx="2265040" cy="856489"/>
            <a:chOff x="6236970" y="5624512"/>
            <a:chExt cx="2265040" cy="856489"/>
          </a:xfrm>
        </p:grpSpPr>
        <p:sp>
          <p:nvSpPr>
            <p:cNvPr id="22" name="TextBox 22"/>
            <p:cNvSpPr txBox="1"/>
            <p:nvPr/>
          </p:nvSpPr>
          <p:spPr>
            <a:xfrm>
              <a:off x="6236970" y="56245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−8.3% … −2.5%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1542" y="5988368"/>
              <a:ext cx="22425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暴雨：东北最敏感，中部最弱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西部 −5.2%，东部 −3.6%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029700" y="5619750"/>
            <a:ext cx="2358276" cy="842201"/>
            <a:chOff x="9029700" y="5619750"/>
            <a:chExt cx="2358276" cy="842201"/>
          </a:xfrm>
        </p:grpSpPr>
        <p:sp>
          <p:nvSpPr>
            <p:cNvPr id="25" name="Rectangle 25"/>
            <p:cNvSpPr/>
            <p:nvPr/>
          </p:nvSpPr>
          <p:spPr>
            <a:xfrm>
              <a:off x="9029700" y="561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5242" y="57026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部分“数据塌缩”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5242" y="5950268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Q3；敏感度由气候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75242" y="6197918"/>
              <a:ext cx="1636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而非规模决定 → Q1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4/6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4632960" cy="557403"/>
            <a:chOff x="671322" y="759142"/>
            <a:chExt cx="4632960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下雨取消出行，而不是推迟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942" y="1295400"/>
            <a:ext cx="10494204" cy="4156901"/>
            <a:chOff x="678942" y="1295400"/>
            <a:chExt cx="10494204" cy="4156901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1254" y="1295400"/>
              <a:ext cx="10001892" cy="37719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78942" y="5188268"/>
              <a:ext cx="8246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±7 天为安慰剂：中雨干净；≥25 mm 有约 1 个百分点的残余关联（提示季节性混杂，小雨结论要谨慎）</a:t>
              </a:r>
            </a:p>
          </p:txBody>
        </p:sp>
      </p:grpSp>
      <p:sp>
        <p:nvSpPr>
          <p:cNvPr id="14" name="Line 14"/>
          <p:cNvSpPr/>
          <p:nvPr/>
        </p:nvSpPr>
        <p:spPr>
          <a:xfrm>
            <a:off x="6858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74370" y="5624512"/>
            <a:ext cx="2265040" cy="856489"/>
            <a:chOff x="674370" y="5624512"/>
            <a:chExt cx="2265040" cy="856489"/>
          </a:xfrm>
        </p:grpSpPr>
        <p:sp>
          <p:nvSpPr>
            <p:cNvPr id="15" name="TextBox 15"/>
            <p:cNvSpPr txBox="1"/>
            <p:nvPr/>
          </p:nvSpPr>
          <p:spPr>
            <a:xfrm>
              <a:off x="674370" y="56245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−1.6% → −2.2%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5988368"/>
              <a:ext cx="205397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 ≥25 mm：当天 → 次日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之后恢复，没有反弹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55670" y="5624512"/>
            <a:ext cx="2265040" cy="856489"/>
            <a:chOff x="3455670" y="5624512"/>
            <a:chExt cx="2265040" cy="856489"/>
          </a:xfrm>
        </p:grpSpPr>
        <p:sp>
          <p:nvSpPr>
            <p:cNvPr id="18" name="TextBox 18"/>
            <p:cNvSpPr txBox="1"/>
            <p:nvPr/>
          </p:nvSpPr>
          <p:spPr>
            <a:xfrm>
              <a:off x="3455670" y="56245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−2.6% → −1.6%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60242" y="5988368"/>
              <a:ext cx="205397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终点 ≥25 mm：当天 → 次日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小的负效应持续到第 3 天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36970" y="5624512"/>
            <a:ext cx="2058543" cy="856489"/>
            <a:chOff x="6236970" y="5624512"/>
            <a:chExt cx="2058543" cy="856489"/>
          </a:xfrm>
        </p:grpSpPr>
        <p:sp>
          <p:nvSpPr>
            <p:cNvPr id="21" name="TextBox 21"/>
            <p:cNvSpPr txBox="1"/>
            <p:nvPr/>
          </p:nvSpPr>
          <p:spPr>
            <a:xfrm>
              <a:off x="6236970" y="562451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−0.8%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1542" y="5988368"/>
              <a:ext cx="205397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雨前一天流向目的地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（p = 0.06），像在看预报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29700" y="5619750"/>
            <a:ext cx="2149278" cy="842201"/>
            <a:chOff x="9029700" y="5619750"/>
            <a:chExt cx="2149278" cy="842201"/>
          </a:xfrm>
        </p:grpSpPr>
        <p:sp>
          <p:nvSpPr>
            <p:cNvPr id="24" name="Rectangle 24"/>
            <p:cNvSpPr/>
            <p:nvPr/>
          </p:nvSpPr>
          <p:spPr>
            <a:xfrm>
              <a:off x="9029700" y="561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75242" y="5702618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1–2 天弛豫，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75242" y="5950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恢复函数是什么形状？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5242" y="6197918"/>
              <a:ext cx="426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Q6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5/6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9233127" cy="557403"/>
            <a:chOff x="671322" y="759142"/>
            <a:chExt cx="9233127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92331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台风日只占 2.5%，却制造了“极端降雨”的大部分效应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44862" y="400050"/>
            <a:ext cx="1713738" cy="308801"/>
            <a:chOff x="9944862" y="400050"/>
            <a:chExt cx="17137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99448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6299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205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1295400"/>
            <a:ext cx="10348722" cy="4156901"/>
            <a:chOff x="678942" y="1295400"/>
            <a:chExt cx="10348722" cy="4156901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736" y="1295400"/>
              <a:ext cx="9710928" cy="37719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78942" y="5188268"/>
              <a:ext cx="8600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台风影响下终点小雨也额外 −6.5%（预警、停运）；混在一起会制造假象：长途也大降、湿润区反而更敏感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6858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674370" y="5624512"/>
            <a:ext cx="2470023" cy="856489"/>
            <a:chOff x="674370" y="5624512"/>
            <a:chExt cx="2470023" cy="856489"/>
          </a:xfrm>
        </p:grpSpPr>
        <p:sp>
          <p:nvSpPr>
            <p:cNvPr id="17" name="TextBox 17"/>
            <p:cNvSpPr txBox="1"/>
            <p:nvPr/>
          </p:nvSpPr>
          <p:spPr>
            <a:xfrm>
              <a:off x="674370" y="5624512"/>
              <a:ext cx="17402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2.5% · 70%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942" y="5988368"/>
              <a:ext cx="246545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台风日占连接-日 2.5%；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≥100 mm 城市-日 70% 是台风日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455670" y="5624512"/>
            <a:ext cx="2564320" cy="856489"/>
            <a:chOff x="3455670" y="5624512"/>
            <a:chExt cx="2564320" cy="856489"/>
          </a:xfrm>
        </p:grpSpPr>
        <p:sp>
          <p:nvSpPr>
            <p:cNvPr id="20" name="TextBox 20"/>
            <p:cNvSpPr txBox="1"/>
            <p:nvPr/>
          </p:nvSpPr>
          <p:spPr>
            <a:xfrm>
              <a:off x="3455670" y="5624512"/>
              <a:ext cx="24399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−27.1% → −8.8%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60242" y="5988368"/>
              <a:ext cx="25597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终点 ≥100 mm：全部日→非台风日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（起点 −22.4% → −5.5%）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36970" y="5624512"/>
            <a:ext cx="2178558" cy="856489"/>
            <a:chOff x="6236970" y="5624512"/>
            <a:chExt cx="2178558" cy="856489"/>
          </a:xfrm>
        </p:grpSpPr>
        <p:sp>
          <p:nvSpPr>
            <p:cNvPr id="23" name="TextBox 23"/>
            <p:cNvSpPr txBox="1"/>
            <p:nvPr/>
          </p:nvSpPr>
          <p:spPr>
            <a:xfrm>
              <a:off x="6236970" y="5624512"/>
              <a:ext cx="19151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−24% / −32%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1542" y="5988368"/>
              <a:ext cx="217398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同样 ≥100 mm 的雨在台风日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额外下降（起点 / 终点）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29700" y="5619750"/>
            <a:ext cx="1976628" cy="842201"/>
            <a:chOff x="9029700" y="5619750"/>
            <a:chExt cx="1976628" cy="842201"/>
          </a:xfrm>
        </p:grpSpPr>
        <p:sp>
          <p:nvSpPr>
            <p:cNvPr id="26" name="Rectangle 26"/>
            <p:cNvSpPr/>
            <p:nvPr/>
          </p:nvSpPr>
          <p:spPr>
            <a:xfrm>
              <a:off x="9029700" y="561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75242" y="5702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强而空间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75242" y="5950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相关的扰动（供给侧）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75242" y="6197918"/>
              <a:ext cx="868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Q5、Q7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6/6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992376" cy="557403"/>
            <a:chOff x="671322" y="759142"/>
            <a:chExt cx="8992376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99237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日常降雨每年少走约 9.5 亿人次，大头是小雨和中雨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Q7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1424940"/>
            <a:ext cx="3203504" cy="941261"/>
            <a:chOff x="666750" y="1424940"/>
            <a:chExt cx="3203504" cy="941261"/>
          </a:xfrm>
        </p:grpSpPr>
        <p:sp>
          <p:nvSpPr>
            <p:cNvPr id="11" name="TextBox 11"/>
            <p:cNvSpPr txBox="1"/>
            <p:nvPr/>
          </p:nvSpPr>
          <p:spPr>
            <a:xfrm>
              <a:off x="666750" y="1424940"/>
              <a:ext cx="32035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9.54</a:t>
              </a: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亿人次 / 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21021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非台风日，日常降雨减少的城际出行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12970" y="1585912"/>
            <a:ext cx="1072363" cy="646939"/>
            <a:chOff x="4712970" y="1585912"/>
            <a:chExt cx="1072363" cy="646939"/>
          </a:xfrm>
        </p:grpSpPr>
        <p:sp>
          <p:nvSpPr>
            <p:cNvPr id="14" name="TextBox 14"/>
            <p:cNvSpPr txBox="1"/>
            <p:nvPr/>
          </p:nvSpPr>
          <p:spPr>
            <a:xfrm>
              <a:off x="4712970" y="15859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7542" y="19688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小雨 5.77 亿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75170" y="1585912"/>
            <a:ext cx="1072363" cy="646939"/>
            <a:chOff x="7075170" y="1585912"/>
            <a:chExt cx="1072363" cy="646939"/>
          </a:xfrm>
        </p:grpSpPr>
        <p:sp>
          <p:nvSpPr>
            <p:cNvPr id="17" name="TextBox 17"/>
            <p:cNvSpPr txBox="1"/>
            <p:nvPr/>
          </p:nvSpPr>
          <p:spPr>
            <a:xfrm>
              <a:off x="7075170" y="15859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9742" y="19688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中雨 2.36 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37370" y="1585912"/>
            <a:ext cx="2008308" cy="646939"/>
            <a:chOff x="9437370" y="1585912"/>
            <a:chExt cx="2008308" cy="646939"/>
          </a:xfrm>
        </p:grpSpPr>
        <p:sp>
          <p:nvSpPr>
            <p:cNvPr id="20" name="TextBox 20"/>
            <p:cNvSpPr txBox="1"/>
            <p:nvPr/>
          </p:nvSpPr>
          <p:spPr>
            <a:xfrm>
              <a:off x="9437370" y="1585912"/>
              <a:ext cx="4363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1942" y="1968818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 + ≥100 mm 0.37 亿</a:t>
              </a:r>
            </a:p>
          </p:txBody>
        </p:sp>
      </p:grpSp>
      <p:sp>
        <p:nvSpPr>
          <p:cNvPr id="23" name="Line 23"/>
          <p:cNvSpPr/>
          <p:nvPr/>
        </p:nvSpPr>
        <p:spPr>
          <a:xfrm>
            <a:off x="685800" y="2400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2006208" y="2495550"/>
            <a:ext cx="8331985" cy="3048000"/>
            <a:chOff x="2006208" y="2495550"/>
            <a:chExt cx="8331985" cy="304800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6208" y="2495550"/>
              <a:ext cx="8331985" cy="304800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85800" y="5657850"/>
            <a:ext cx="7438731" cy="823151"/>
            <a:chOff x="685800" y="5657850"/>
            <a:chExt cx="7438731" cy="823151"/>
          </a:xfrm>
        </p:grpSpPr>
        <p:sp>
          <p:nvSpPr>
            <p:cNvPr id="26" name="Rectangle 26"/>
            <p:cNvSpPr/>
            <p:nvPr/>
          </p:nvSpPr>
          <p:spPr>
            <a:xfrm>
              <a:off x="685800" y="5657850"/>
              <a:ext cx="3810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0580" y="5686425"/>
              <a:ext cx="7158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损失来自频繁的小扰动，仅中雨就是暴雨 + 大暴雨的约 6 倍 → Q7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5969318"/>
              <a:ext cx="7155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台风日降雨另减 1.27 亿，合计 10.8 亿（占无雨反事实 2.2%；只算稳定连接，是下限）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6216968"/>
              <a:ext cx="7293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论文进展：英文 TR-D 初稿与中英文 Word 稿已完成；待补气温控制和雨量计数据稳健性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16502" cy="264033"/>
            <a:chOff x="678942" y="444818"/>
            <a:chExt cx="1916502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1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用统计物理语言重看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7702296" cy="557403"/>
            <a:chOff x="671322" y="759142"/>
            <a:chExt cx="7702296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77022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换一种语言：把降雨看成一个弱而普遍的外场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685800" y="1524000"/>
            <a:ext cx="4191000" cy="4381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907542" y="1797368"/>
            <a:ext cx="377190" cy="264033"/>
            <a:chOff x="907542" y="1797368"/>
            <a:chExt cx="377190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1797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usceptibility-formula"/>
              <p:cNvSpPr txBox="1">
                <a:spLocks noGrp="1"/>
              </p:cNvSpPr>
              <p:nvPr/>
            </p:nvSpPr>
            <p:spPr>
              <a:xfrm>
                <a:off x="914400" y="2133600"/>
                <a:ext cx="3733800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sz="30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χ</m:t>
                      </m:r>
                      <m:r>
                        <m:rPr>
                          <m:sty m:val="p"/>
                        </m:rPr>
                        <a:rPr lang="zh-CN" sz="30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30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30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d>
                            <m:dPr>
                              <m:begChr m:val="⟨"/>
                              <m:sepChr m:val=""/>
                              <m:endChr m:val="⟩"/>
                              <m:grow m:val="on"/>
                              <m:ctrlPr>
                                <a:rPr lang="zh-CN" sz="3000" dirty="0">
                                  <a:solidFill>
                                    <a:srgbClr val="1F3A5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30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sz="30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30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30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3" name="Group 13"/>
          <p:cNvGrpSpPr/>
          <p:nvPr/>
        </p:nvGrpSpPr>
        <p:grpSpPr>
          <a:xfrm>
            <a:off x="906018" y="3479482"/>
            <a:ext cx="2758440" cy="2220469"/>
            <a:chOff x="906018" y="3479482"/>
            <a:chExt cx="2758440" cy="2220469"/>
          </a:xfrm>
        </p:grpSpPr>
        <p:sp>
          <p:nvSpPr>
            <p:cNvPr id="11" name="TextBox 11"/>
            <p:cNvSpPr txBox="1"/>
            <p:nvPr/>
          </p:nvSpPr>
          <p:spPr>
            <a:xfrm>
              <a:off x="906018" y="3479482"/>
              <a:ext cx="2258949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外场 h = 降雨强度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 = ⟨ln F⟩ 的变化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χ = 单位雨强引起的响应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4902518"/>
              <a:ext cx="27569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同一组实证结果，右边是五个对应；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后面三个初探都是新做的，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未经推敲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27142" y="1625918"/>
            <a:ext cx="4342638" cy="264033"/>
            <a:chOff x="5327142" y="1625918"/>
            <a:chExt cx="4342638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5327142" y="1625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计量语言（已有结果）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5642" y="1625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统计物理语言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25618" y="1962150"/>
            <a:ext cx="6332982" cy="563689"/>
            <a:chOff x="5325618" y="1962150"/>
            <a:chExt cx="6332982" cy="563689"/>
          </a:xfrm>
        </p:grpSpPr>
        <p:sp>
          <p:nvSpPr>
            <p:cNvPr id="17" name="Line 17"/>
            <p:cNvSpPr/>
            <p:nvPr/>
          </p:nvSpPr>
          <p:spPr>
            <a:xfrm>
              <a:off x="5334000" y="1962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25618" y="2203132"/>
              <a:ext cx="1471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剂量-响应曲线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886700" y="2314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64118" y="2203132"/>
              <a:ext cx="2038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响应函数 / 磁化率 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25618" y="2724150"/>
            <a:ext cx="6332982" cy="563689"/>
            <a:chOff x="5325618" y="2724150"/>
            <a:chExt cx="6332982" cy="563689"/>
          </a:xfrm>
        </p:grpSpPr>
        <p:sp>
          <p:nvSpPr>
            <p:cNvPr id="22" name="Line 22"/>
            <p:cNvSpPr/>
            <p:nvPr/>
          </p:nvSpPr>
          <p:spPr>
            <a:xfrm>
              <a:off x="5334000" y="2724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25618" y="29651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效应随距离衰减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886700" y="3076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64118" y="2965132"/>
              <a:ext cx="272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距离衰减指数 γ 被外场改变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25618" y="3486150"/>
            <a:ext cx="6332982" cy="563689"/>
            <a:chOff x="5325618" y="3486150"/>
            <a:chExt cx="6332982" cy="563689"/>
          </a:xfrm>
        </p:grpSpPr>
        <p:sp>
          <p:nvSpPr>
            <p:cNvPr id="27" name="Line 27"/>
            <p:cNvSpPr/>
            <p:nvPr/>
          </p:nvSpPr>
          <p:spPr>
            <a:xfrm>
              <a:off x="5334000" y="3486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25618" y="37271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本地分位数分档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886700" y="3838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64118" y="37271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重标度与数据塌缩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25618" y="4248150"/>
            <a:ext cx="6332982" cy="563689"/>
            <a:chOff x="5325618" y="4248150"/>
            <a:chExt cx="6332982" cy="563689"/>
          </a:xfrm>
        </p:grpSpPr>
        <p:sp>
          <p:nvSpPr>
            <p:cNvPr id="32" name="Line 32"/>
            <p:cNvSpPr/>
            <p:nvPr/>
          </p:nvSpPr>
          <p:spPr>
            <a:xfrm>
              <a:off x="5334000" y="4248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25618" y="44891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当天 / 次日 / 恢复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86700" y="4600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64118" y="4489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弛豫函数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25618" y="5010150"/>
            <a:ext cx="6332982" cy="771525"/>
            <a:chOff x="5325618" y="5010150"/>
            <a:chExt cx="6332982" cy="771525"/>
          </a:xfrm>
        </p:grpSpPr>
        <p:sp>
          <p:nvSpPr>
            <p:cNvPr id="37" name="Line 37"/>
            <p:cNvSpPr/>
            <p:nvPr/>
          </p:nvSpPr>
          <p:spPr>
            <a:xfrm>
              <a:off x="5334000" y="5010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25618" y="5251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台风日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886700" y="5362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64118" y="52511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强而空间相关的扰动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334000" y="5772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2811506" cy="264033"/>
            <a:chOff x="678942" y="444818"/>
            <a:chExt cx="281150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2811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用统计物理语言重看 · 初探 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5255369" cy="557403"/>
            <a:chOff x="671322" y="759142"/>
            <a:chExt cx="5255369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52553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初探 A：雨天，距离衰减变平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59832" y="1295400"/>
            <a:ext cx="9424737" cy="3581400"/>
            <a:chOff x="1459832" y="1295400"/>
            <a:chExt cx="9424737" cy="358140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9832" y="1295400"/>
              <a:ext cx="9424737" cy="3581400"/>
            </a:xfrm>
            <a:prstGeom prst="rect">
              <a:avLst/>
            </a:prstGeom>
          </p:spPr>
        </p:pic>
      </p:grpSp>
      <p:sp>
        <p:nvSpPr>
          <p:cNvPr id="13" name="Line 13"/>
          <p:cNvSpPr/>
          <p:nvPr/>
        </p:nvSpPr>
        <p:spPr>
          <a:xfrm>
            <a:off x="685800" y="4972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ravity-formula"/>
              <p:cNvSpPr txBox="1">
                <a:spLocks noGrp="1"/>
              </p:cNvSpPr>
              <p:nvPr/>
            </p:nvSpPr>
            <p:spPr>
              <a:xfrm>
                <a:off x="685800" y="5067300"/>
                <a:ext cx="4381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∝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p>
                      </m:sSubSup>
                      <m:sSubSup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sup>
                      </m:sSubSup>
                      <m:sSubSup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rain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−Δ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" name="Group 17"/>
          <p:cNvGrpSpPr/>
          <p:nvPr/>
        </p:nvGrpSpPr>
        <p:grpSpPr>
          <a:xfrm>
            <a:off x="678942" y="5816918"/>
            <a:ext cx="2703843" cy="549783"/>
            <a:chOff x="678942" y="5816918"/>
            <a:chExt cx="2703843" cy="549783"/>
          </a:xfrm>
        </p:grpSpPr>
        <p:sp>
          <p:nvSpPr>
            <p:cNvPr id="15" name="TextBox 15"/>
            <p:cNvSpPr txBox="1"/>
            <p:nvPr/>
          </p:nvSpPr>
          <p:spPr>
            <a:xfrm>
              <a:off x="678942" y="5816918"/>
              <a:ext cx="27038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质量版：F ∝ M</a:t>
              </a:r>
              <a:r>
                <a:rPr lang="zh-CN" sz="1050" baseline="-25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</a:t>
              </a:r>
              <a:r>
                <a:rPr lang="zh-CN" sz="1050" baseline="30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0.59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M</a:t>
              </a:r>
              <a:r>
                <a:rPr lang="zh-CN" sz="1050" baseline="-25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</a:t>
              </a:r>
              <a:r>
                <a:rPr lang="zh-CN" sz="1050" baseline="30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0.58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d</a:t>
              </a:r>
              <a:r>
                <a:rPr lang="zh-CN" sz="1050" baseline="30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−1.51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6102668"/>
              <a:ext cx="2320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Δγ = 降雨效应对 ln d 的斜率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4450" y="5196840"/>
            <a:ext cx="1740408" cy="1227011"/>
            <a:chOff x="5124450" y="5196840"/>
            <a:chExt cx="1740408" cy="1227011"/>
          </a:xfrm>
        </p:grpSpPr>
        <p:sp>
          <p:nvSpPr>
            <p:cNvPr id="18" name="TextBox 18"/>
            <p:cNvSpPr txBox="1"/>
            <p:nvPr/>
          </p:nvSpPr>
          <p:spPr>
            <a:xfrm>
              <a:off x="5124450" y="51968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2.13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6642" y="59121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γ：去掉起终点固定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效应后的距离衰减指数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410450" y="5196840"/>
            <a:ext cx="2117598" cy="1227011"/>
            <a:chOff x="7410450" y="5196840"/>
            <a:chExt cx="2117598" cy="1227011"/>
          </a:xfrm>
        </p:grpSpPr>
        <p:sp>
          <p:nvSpPr>
            <p:cNvPr id="21" name="TextBox 21"/>
            <p:cNvSpPr txBox="1"/>
            <p:nvPr/>
          </p:nvSpPr>
          <p:spPr>
            <a:xfrm>
              <a:off x="7410450" y="519684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+0.02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2642" y="5912168"/>
              <a:ext cx="210540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Δγ：终点中雨 +0.014、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大雨 +0.017、暴雨 +0.018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15500" y="5143500"/>
            <a:ext cx="1813750" cy="1181100"/>
            <a:chOff x="9715500" y="5143500"/>
            <a:chExt cx="1813750" cy="1181100"/>
          </a:xfrm>
        </p:grpSpPr>
        <p:sp>
          <p:nvSpPr>
            <p:cNvPr id="24" name="Rectangle 24"/>
            <p:cNvSpPr/>
            <p:nvPr/>
          </p:nvSpPr>
          <p:spPr>
            <a:xfrm>
              <a:off x="9715500" y="5143500"/>
              <a:ext cx="38100" cy="118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61042" y="5226368"/>
              <a:ext cx="166820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起点暴雨 +0.030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&gt;1000 km 衰减变平：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交叉尺度？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（高铁 / 航空接管）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80466" y="655415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 · 初探，未经推敲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2811506" cy="264033"/>
            <a:chOff x="678942" y="444818"/>
            <a:chExt cx="281150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2811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用统计物理语言重看 · 初探 B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5660753" cy="557403"/>
            <a:chOff x="671322" y="759142"/>
            <a:chExt cx="5660753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56607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初探 B：降雨是一个很弱的外场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942" y="1295400"/>
            <a:ext cx="10155495" cy="3890201"/>
            <a:chOff x="678942" y="1295400"/>
            <a:chExt cx="10155495" cy="3890201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9963" y="1295400"/>
              <a:ext cx="9324474" cy="35433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78942" y="4921568"/>
              <a:ext cx="9400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ε：去掉连接×年月、全国日期、连接×星期均值后的逐日对数偏差；分布中心呈指数型尾部（对数坐标下近似三角形）</a:t>
              </a:r>
            </a:p>
          </p:txBody>
        </p:sp>
      </p:grpSp>
      <p:sp>
        <p:nvSpPr>
          <p:cNvPr id="14" name="Line 14"/>
          <p:cNvSpPr/>
          <p:nvPr/>
        </p:nvSpPr>
        <p:spPr>
          <a:xfrm>
            <a:off x="685800" y="5219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66750" y="5406390"/>
            <a:ext cx="1761496" cy="941261"/>
            <a:chOff x="666750" y="5406390"/>
            <a:chExt cx="1761496" cy="941261"/>
          </a:xfrm>
        </p:grpSpPr>
        <p:sp>
          <p:nvSpPr>
            <p:cNvPr id="15" name="TextBox 15"/>
            <p:cNvSpPr txBox="1"/>
            <p:nvPr/>
          </p:nvSpPr>
          <p:spPr>
            <a:xfrm>
              <a:off x="666750" y="540639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6083618"/>
              <a:ext cx="174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σ：自发涨落的标准差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181350" y="5406390"/>
            <a:ext cx="1903933" cy="941261"/>
            <a:chOff x="3181350" y="5406390"/>
            <a:chExt cx="1903933" cy="941261"/>
          </a:xfrm>
        </p:grpSpPr>
        <p:sp>
          <p:nvSpPr>
            <p:cNvPr id="18" name="TextBox 18"/>
            <p:cNvSpPr txBox="1"/>
            <p:nvPr/>
          </p:nvSpPr>
          <p:spPr>
            <a:xfrm>
              <a:off x="3181350" y="54063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−0.04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93542" y="6083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暴雨及以上的平均位移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95950" y="5406390"/>
            <a:ext cx="1530767" cy="941261"/>
            <a:chOff x="5695950" y="5406390"/>
            <a:chExt cx="1530767" cy="941261"/>
          </a:xfrm>
        </p:grpSpPr>
        <p:sp>
          <p:nvSpPr>
            <p:cNvPr id="21" name="TextBox 21"/>
            <p:cNvSpPr txBox="1"/>
            <p:nvPr/>
          </p:nvSpPr>
          <p:spPr>
            <a:xfrm>
              <a:off x="5695950" y="540639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≈0.1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8142" y="6083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信噪比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29600" y="5353050"/>
            <a:ext cx="2713863" cy="1147001"/>
            <a:chOff x="8229600" y="5353050"/>
            <a:chExt cx="2713863" cy="1147001"/>
          </a:xfrm>
        </p:grpSpPr>
        <p:sp>
          <p:nvSpPr>
            <p:cNvPr id="24" name="Rectangle 24"/>
            <p:cNvSpPr/>
            <p:nvPr/>
          </p:nvSpPr>
          <p:spPr>
            <a:xfrm>
              <a:off x="8229600" y="5353050"/>
              <a:ext cx="38100" cy="971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75142" y="5435918"/>
              <a:ext cx="2568321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P(下降 &gt; 30%)：两端无雨 10.3%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暴雨及以上 12.5%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更大的下降（&gt;45%）无雨日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一样多，多来自节假日等冲击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80466" y="655415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 · 初探，未经推敲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2811506" cy="264033"/>
            <a:chOff x="678942" y="444818"/>
            <a:chExt cx="281150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2811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用统计物理语言重看 · 初探 C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966660" cy="557403"/>
            <a:chOff x="671322" y="759142"/>
            <a:chExt cx="8966660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9666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初探 C：城市“磁化率”取决于气候，不取决于规模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44862" y="400050"/>
            <a:ext cx="1713738" cy="308801"/>
            <a:chOff x="9944862" y="400050"/>
            <a:chExt cx="17137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99448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6299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205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59832" y="1295400"/>
            <a:ext cx="9424737" cy="3581400"/>
            <a:chOff x="1459832" y="1295400"/>
            <a:chExt cx="9424737" cy="35814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9832" y="1295400"/>
              <a:ext cx="9424737" cy="3581400"/>
            </a:xfrm>
            <a:prstGeom prst="rect">
              <a:avLst/>
            </a:prstGeom>
          </p:spPr>
        </p:pic>
      </p:grpSp>
      <p:sp>
        <p:nvSpPr>
          <p:cNvPr id="15" name="Line 15"/>
          <p:cNvSpPr/>
          <p:nvPr/>
        </p:nvSpPr>
        <p:spPr>
          <a:xfrm>
            <a:off x="685800" y="4972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hi-formula"/>
              <p:cNvSpPr txBox="1">
                <a:spLocks noGrp="1"/>
              </p:cNvSpPr>
              <p:nvPr/>
            </p:nvSpPr>
            <p:spPr>
              <a:xfrm>
                <a:off x="685800" y="5067300"/>
                <a:ext cx="4267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χ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3A5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sz="1800" dirty="0">
                                          <a:solidFill>
                                            <a:srgbClr val="1F3A5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3A5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,≥</m:t>
                                  </m:r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25</m:t>
                                  </m:r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mm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3A5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sz="1800" dirty="0">
                                          <a:solidFill>
                                            <a:srgbClr val="1F3A5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3A5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dry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9" name="Group 19"/>
          <p:cNvGrpSpPr/>
          <p:nvPr/>
        </p:nvGrpSpPr>
        <p:grpSpPr>
          <a:xfrm>
            <a:off x="678942" y="5816918"/>
            <a:ext cx="3857454" cy="549783"/>
            <a:chOff x="678942" y="5816918"/>
            <a:chExt cx="3857454" cy="549783"/>
          </a:xfrm>
        </p:grpSpPr>
        <p:sp>
          <p:nvSpPr>
            <p:cNvPr id="17" name="TextBox 17"/>
            <p:cNvSpPr txBox="1"/>
            <p:nvPr/>
          </p:nvSpPr>
          <p:spPr>
            <a:xfrm>
              <a:off x="678942" y="581691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270 城（≥10 个非台风大雨日），中位数 −5.1%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942" y="6102668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同时放入：规模 +1.6、降水 +13.2（百分点）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24450" y="5196840"/>
            <a:ext cx="1568958" cy="1227011"/>
            <a:chOff x="5124450" y="5196840"/>
            <a:chExt cx="1568958" cy="1227011"/>
          </a:xfrm>
        </p:grpSpPr>
        <p:sp>
          <p:nvSpPr>
            <p:cNvPr id="20" name="TextBox 20"/>
            <p:cNvSpPr txBox="1"/>
            <p:nvPr/>
          </p:nvSpPr>
          <p:spPr>
            <a:xfrm>
              <a:off x="5124450" y="51968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+0.8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6642" y="591216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城市流动规模每增加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 倍（百分点）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10450" y="5196840"/>
            <a:ext cx="1903933" cy="1227011"/>
            <a:chOff x="7410450" y="5196840"/>
            <a:chExt cx="1903933" cy="1227011"/>
          </a:xfrm>
        </p:grpSpPr>
        <p:sp>
          <p:nvSpPr>
            <p:cNvPr id="23" name="TextBox 23"/>
            <p:cNvSpPr txBox="1"/>
            <p:nvPr/>
          </p:nvSpPr>
          <p:spPr>
            <a:xfrm>
              <a:off x="7410450" y="519684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+12.7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2642" y="59121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年降水每增加 10 倍，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敏感度减弱（百分点）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15500" y="5143500"/>
            <a:ext cx="1719453" cy="1181100"/>
            <a:chOff x="9715500" y="5143500"/>
            <a:chExt cx="1719453" cy="1181100"/>
          </a:xfrm>
        </p:grpSpPr>
        <p:sp>
          <p:nvSpPr>
            <p:cNvPr id="26" name="Rectangle 26"/>
            <p:cNvSpPr/>
            <p:nvPr/>
          </p:nvSpPr>
          <p:spPr>
            <a:xfrm>
              <a:off x="9715500" y="5143500"/>
              <a:ext cx="38100" cy="118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61042" y="5226368"/>
              <a:ext cx="1573911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没有明显的规模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标度，却有很强的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“气候标度”：响应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被长期外场“适应”掉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680466" y="655415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 · 初探，未经推敲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734765" cy="264033"/>
            <a:chOff x="678942" y="444818"/>
            <a:chExt cx="1734765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想请教老师的问题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3865626" cy="557403"/>
            <a:chOff x="671322" y="759142"/>
            <a:chExt cx="3865626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七个候选问题，分三组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409700"/>
            <a:ext cx="3505200" cy="4953000"/>
            <a:chOff x="685800" y="1409700"/>
            <a:chExt cx="3505200" cy="4953000"/>
          </a:xfrm>
        </p:grpSpPr>
        <p:sp>
          <p:nvSpPr>
            <p:cNvPr id="7" name="Rectangle 7"/>
            <p:cNvSpPr/>
            <p:nvPr/>
          </p:nvSpPr>
          <p:spPr>
            <a:xfrm>
              <a:off x="685800" y="1409700"/>
              <a:ext cx="3505200" cy="495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409700"/>
              <a:ext cx="3505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056" y="1596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标度与模型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38200" y="1981200"/>
              <a:ext cx="3200400" cy="2095500"/>
              <a:chOff x="838200" y="1981200"/>
              <a:chExt cx="3200400" cy="2095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38200" y="1981200"/>
                <a:ext cx="3200400" cy="209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1456" y="2167890"/>
                <a:ext cx="154835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Q1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城市标度律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980" y="2581275"/>
                <a:ext cx="1986915" cy="864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雨天时，城际流动的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人口标度指数 β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（Y ∝ N^β）会不会变？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3742" y="3740468"/>
                <a:ext cx="15115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证据：P16 初探 C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38200" y="4191000"/>
              <a:ext cx="3200400" cy="2095500"/>
              <a:chOff x="838200" y="4191000"/>
              <a:chExt cx="3200400" cy="2095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38200" y="4191000"/>
                <a:ext cx="3200400" cy="209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81456" y="4377690"/>
                <a:ext cx="21669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Q2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引力 vs 辐射模型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2980" y="4791075"/>
                <a:ext cx="1729740" cy="864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降雨改的是距离衰减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指数 γ、质量项，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还是交叉尺度？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83742" y="5950268"/>
                <a:ext cx="20203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证据：P08、P14 初探 A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4419600" y="1409700"/>
            <a:ext cx="3505200" cy="4953000"/>
            <a:chOff x="4419600" y="1409700"/>
            <a:chExt cx="3505200" cy="4953000"/>
          </a:xfrm>
        </p:grpSpPr>
        <p:sp>
          <p:nvSpPr>
            <p:cNvPr id="21" name="Rectangle 21"/>
            <p:cNvSpPr/>
            <p:nvPr/>
          </p:nvSpPr>
          <p:spPr>
            <a:xfrm>
              <a:off x="4419600" y="1409700"/>
              <a:ext cx="3505200" cy="495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19600" y="1409700"/>
              <a:ext cx="3505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2856" y="1596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普适性与响应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4572000" y="1981200"/>
              <a:ext cx="3200400" cy="2095500"/>
              <a:chOff x="4572000" y="1981200"/>
              <a:chExt cx="3200400" cy="2095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572000" y="1981200"/>
                <a:ext cx="3200400" cy="209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715256" y="2167890"/>
                <a:ext cx="13262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Q3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数据塌缩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716780" y="2581275"/>
                <a:ext cx="2301240" cy="864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用本地气候尺度重标度后，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各城剂量-响应曲线能否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塌缩到一条主曲线？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717542" y="3740468"/>
                <a:ext cx="1415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证据：P09、P16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572000" y="4191000"/>
              <a:ext cx="3200400" cy="2095500"/>
              <a:chOff x="4572000" y="4191000"/>
              <a:chExt cx="3200400" cy="2095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572000" y="4191000"/>
                <a:ext cx="3200400" cy="209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715256" y="4377690"/>
                <a:ext cx="19926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Q4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线性响应与涨落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716780" y="4791075"/>
                <a:ext cx="2110740" cy="864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连接的自发涨落与敏感度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有无类似涨落-耗散的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关系？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717542" y="5950268"/>
                <a:ext cx="20203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证据：P07、P15 初探 B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8153400" y="1409700"/>
            <a:ext cx="3505200" cy="4953000"/>
            <a:chOff x="8153400" y="1409700"/>
            <a:chExt cx="3505200" cy="4953000"/>
          </a:xfrm>
        </p:grpSpPr>
        <p:sp>
          <p:nvSpPr>
            <p:cNvPr id="35" name="Rectangle 35"/>
            <p:cNvSpPr/>
            <p:nvPr/>
          </p:nvSpPr>
          <p:spPr>
            <a:xfrm>
              <a:off x="8153400" y="1409700"/>
              <a:ext cx="3505200" cy="495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53400" y="1409700"/>
              <a:ext cx="3505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96656" y="1596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网络与动力学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305800" y="1981200"/>
              <a:ext cx="3200400" cy="1371600"/>
              <a:chOff x="8305800" y="1981200"/>
              <a:chExt cx="3200400" cy="13716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305800" y="1981200"/>
                <a:ext cx="3200400" cy="1371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449056" y="2129790"/>
                <a:ext cx="19926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Q5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空间关联与网络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450580" y="2486025"/>
                <a:ext cx="2301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相关扰动下网络如何渗流、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如何向第三方城市级联？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51342" y="3073718"/>
                <a:ext cx="9066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证据：P11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8305800" y="3467100"/>
              <a:ext cx="3200400" cy="1371600"/>
              <a:chOff x="8305800" y="3467100"/>
              <a:chExt cx="3200400" cy="13716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305800" y="3467100"/>
                <a:ext cx="3200400" cy="1371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49056" y="3615690"/>
                <a:ext cx="154835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Q6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弛豫动力学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450580" y="3971925"/>
                <a:ext cx="1920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扰动后的恢复是指数型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还是幂律型？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451342" y="4559618"/>
                <a:ext cx="9066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证据：P10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305800" y="4953000"/>
              <a:ext cx="3200400" cy="1371600"/>
              <a:chOff x="8305800" y="4953000"/>
              <a:chExt cx="3200400" cy="13716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305800" y="4953000"/>
                <a:ext cx="3200400" cy="1371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49056" y="5101590"/>
                <a:ext cx="18987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Q7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频率–强度统计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50580" y="5457825"/>
                <a:ext cx="25298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“强度—频率—损失”统一描述，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损失分布有无幂律尾？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51342" y="6045518"/>
                <a:ext cx="9066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证据：P12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734765" cy="264033"/>
            <a:chOff x="678942" y="444818"/>
            <a:chExt cx="1734765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想请教老师的问题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085963" cy="557403"/>
            <a:chOff x="671322" y="759142"/>
            <a:chExt cx="8085963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0859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候选问题详解（一）：标度、模型、塌缩、响应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" y="1333500"/>
            <a:ext cx="10972800" cy="4695825"/>
            <a:chOff x="685800" y="1333500"/>
            <a:chExt cx="10972800" cy="4695825"/>
          </a:xfrm>
        </p:grpSpPr>
        <p:sp>
          <p:nvSpPr>
            <p:cNvPr id="7" name="Rectangle 7"/>
            <p:cNvSpPr/>
            <p:nvPr/>
          </p:nvSpPr>
          <p:spPr>
            <a:xfrm>
              <a:off x="685800" y="133350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3242" y="14639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8242" y="1463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现象与已有证据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55742" y="1463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可能的物理框架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94242" y="14639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需要的数据或方法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2819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6" y="19011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2235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城市标度律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98242" y="1930718"/>
              <a:ext cx="218255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敏感度几乎与流动规模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无关：每增加 10 倍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+0.8 个百分点（初探 C）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55742" y="1930718"/>
              <a:ext cx="24140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城市标度律 Y ∝ N^β：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比较雨天与晴天的 β；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损失随规模超线性还是次线性？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94242" y="19307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需补：七普人口数据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886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956" y="29679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242" y="3302318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引力 vs 辐射模型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8242" y="2997518"/>
              <a:ext cx="166820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效应随距离衰减；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Δγ ≈ +0.02；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&gt;1000 km 处出现交叉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55742" y="29975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引力模型 vs 辐射模型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（中间机会）：降雨是否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缩小“有效机会半径”？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4242" y="2997518"/>
              <a:ext cx="173678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需要：一个机制模型，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推出 Δγ ≈ 0.02 的量级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0956" y="40347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3242" y="4369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数据塌缩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8242" y="4064318"/>
              <a:ext cx="249116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本地分位数重标度后，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干湿差距缩小但不消失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（P95–P99：−3.4% vs −1.4%）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55742" y="40643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 P99、重现期或标准化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距平为标度变量，看各城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剂量-响应能否塌缩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94242" y="406431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需要：选对标度变量；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现有数据即可起步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5800" y="6019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0956" y="51015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3242" y="5435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线性响应与涨落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98242" y="5131118"/>
              <a:ext cx="159105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自发涨落 σ ≈ 0.35，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远大于暴雨平均响应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（−0.04）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5742" y="5131118"/>
              <a:ext cx="216541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线性响应；涨落-耗散类比；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敏感度在连接间的分布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是否重尾？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94242" y="5131118"/>
              <a:ext cx="13853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需要：连接层面的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响应估计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" y="6096000"/>
            <a:ext cx="5355336" cy="321945"/>
            <a:chOff x="685800" y="6096000"/>
            <a:chExt cx="5355336" cy="321945"/>
          </a:xfrm>
        </p:grpSpPr>
        <p:sp>
          <p:nvSpPr>
            <p:cNvPr id="37" name="Rectangle 37"/>
            <p:cNvSpPr/>
            <p:nvPr/>
          </p:nvSpPr>
          <p:spPr>
            <a:xfrm>
              <a:off x="685800" y="6096000"/>
              <a:ext cx="3810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0580" y="6124575"/>
              <a:ext cx="52105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Q1–Q4 都能用现有数据起步，只有 Q1 需要补人口数据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734765" cy="264033"/>
            <a:chOff x="678942" y="444818"/>
            <a:chExt cx="1734765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想请教老师的问题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7923864" cy="557403"/>
            <a:chOff x="671322" y="759142"/>
            <a:chExt cx="7923864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79238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候选问题详解（二）：网络、弛豫、频率-强度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1333500"/>
            <a:ext cx="10972800" cy="4429125"/>
            <a:chOff x="685800" y="1333500"/>
            <a:chExt cx="10972800" cy="4429125"/>
          </a:xfrm>
        </p:grpSpPr>
        <p:sp>
          <p:nvSpPr>
            <p:cNvPr id="7" name="Rectangle 7"/>
            <p:cNvSpPr/>
            <p:nvPr/>
          </p:nvSpPr>
          <p:spPr>
            <a:xfrm>
              <a:off x="685800" y="133350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3242" y="14639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8242" y="1463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现象与已有证据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55742" y="1463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可能的物理框架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94242" y="14639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需要的数据或方法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6" y="19011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2235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空间关联与网络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98242" y="1930718"/>
              <a:ext cx="20711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降雨场空间相关强，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同一天很多城市同时下雨；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台风是强相关扰动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55742" y="1930718"/>
              <a:ext cx="20711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网络上的相关扰动：渗流、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巨连通分量、向第三方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城市的级联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94242" y="193071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需要：逐日网络重构、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降雨场的空间相关长度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956" y="32346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242" y="3569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弛豫动力学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8242" y="3264218"/>
              <a:ext cx="20711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扰动后 1–2 天恢复，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没有反弹（取消而非推迟）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55742" y="3264218"/>
              <a:ext cx="239687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弛豫函数：指数型还是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幂律型？联系 Wang &amp; Taylor：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扰动下移动规律仍保持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4242" y="3264218"/>
              <a:ext cx="18996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需要：按降雨事件对齐的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恢复曲线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5753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0956" y="45681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3242" y="4902518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频率–强度统计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8242" y="45977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小雨中雨占非台风日损失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 86%；台风是少数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大扰动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55742" y="4597718"/>
              <a:ext cx="188252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类 G-R 律：“强度—频率—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损失”统一描述；损失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分布有无幂律尾？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94242" y="4597718"/>
              <a:ext cx="13853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需要：事件层面的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损失分布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5829300"/>
            <a:ext cx="4544568" cy="321945"/>
            <a:chOff x="685800" y="5829300"/>
            <a:chExt cx="4544568" cy="321945"/>
          </a:xfrm>
        </p:grpSpPr>
        <p:sp>
          <p:nvSpPr>
            <p:cNvPr id="31" name="Rectangle 31"/>
            <p:cNvSpPr/>
            <p:nvPr/>
          </p:nvSpPr>
          <p:spPr>
            <a:xfrm>
              <a:off x="685800" y="5829300"/>
              <a:ext cx="3810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0580" y="5857875"/>
              <a:ext cx="4399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Q5–Q7 方法上更“物理”，但需要更多建模工作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734765" cy="264033"/>
            <a:chOff x="678942" y="444818"/>
            <a:chExt cx="1734765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想请教老师的问题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6167628" cy="557403"/>
            <a:chOff x="671322" y="759142"/>
            <a:chExt cx="6167628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61676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想请老师帮我判断：先做哪一两个？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3248" y="1524000"/>
            <a:ext cx="5540035" cy="4842701"/>
            <a:chOff x="153248" y="1524000"/>
            <a:chExt cx="5540035" cy="4842701"/>
          </a:xfrm>
        </p:grpSpPr>
        <p:sp>
          <p:nvSpPr>
            <p:cNvPr id="7" name="Rectangle 7"/>
            <p:cNvSpPr/>
            <p:nvPr/>
          </p:nvSpPr>
          <p:spPr>
            <a:xfrm>
              <a:off x="1143000" y="1524000"/>
              <a:ext cx="4495800" cy="411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35814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390900" y="15240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 rot="-5400000">
              <a:off x="153248" y="3449384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研究价值：中 → 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5647" y="5759768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可行性（现有数据能否起步）：低 → 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54168" y="1664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先做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638300" y="2171700"/>
              <a:ext cx="457200" cy="457200"/>
              <a:chOff x="1638300" y="2171700"/>
              <a:chExt cx="457200" cy="4572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638300" y="21717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728986" y="232124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Q5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276600" y="2324100"/>
              <a:ext cx="457200" cy="457200"/>
              <a:chOff x="3276600" y="2324100"/>
              <a:chExt cx="457200" cy="4572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3276600" y="23241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367286" y="247364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Q4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1981200"/>
              <a:ext cx="533400" cy="533400"/>
              <a:chOff x="4267200" y="1981200"/>
              <a:chExt cx="533400" cy="5334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4267200" y="1981200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395986" y="216884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Q2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876800" y="2686050"/>
              <a:ext cx="533400" cy="533400"/>
              <a:chOff x="4876800" y="2686050"/>
              <a:chExt cx="533400" cy="5334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876800" y="2686050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05586" y="287369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Q3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628900" y="4248150"/>
              <a:ext cx="457200" cy="457200"/>
              <a:chOff x="2628900" y="4248150"/>
              <a:chExt cx="457200" cy="4572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2628900" y="424815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719586" y="439769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Q1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076700" y="4076700"/>
              <a:ext cx="457200" cy="457200"/>
              <a:chOff x="4076700" y="4076700"/>
              <a:chExt cx="457200" cy="4572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076700" y="40767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167386" y="422624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Q6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876800" y="4819650"/>
              <a:ext cx="457200" cy="457200"/>
              <a:chOff x="4876800" y="4819650"/>
              <a:chExt cx="457200" cy="45720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4876800" y="481965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967486" y="496919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Q7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2569464" y="4820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需补人口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6142" y="61026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情景判断：位置是我的初步判断，不是数据，请老师修正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84570" y="1482090"/>
            <a:ext cx="4552950" cy="3439477"/>
            <a:chOff x="6084570" y="1482090"/>
            <a:chExt cx="4552950" cy="3439477"/>
          </a:xfrm>
        </p:grpSpPr>
        <p:sp>
          <p:nvSpPr>
            <p:cNvPr id="37" name="TextBox 37"/>
            <p:cNvSpPr txBox="1"/>
            <p:nvPr/>
          </p:nvSpPr>
          <p:spPr>
            <a:xfrm>
              <a:off x="6086856" y="1482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想请教的四件事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084570" y="1966912"/>
              <a:ext cx="4552950" cy="621983"/>
              <a:chOff x="6084570" y="1966912"/>
              <a:chExt cx="4552950" cy="621983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084570" y="19669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69380" y="2009775"/>
                <a:ext cx="416814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哪一两个问题最值得做成统计物理 /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复杂系统风格的论文？和 TR-D 实证稿怎么分工？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084570" y="2805112"/>
              <a:ext cx="4210050" cy="621983"/>
              <a:chOff x="6084570" y="2805112"/>
              <a:chExt cx="4210050" cy="621983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6084570" y="28051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9380" y="2847975"/>
                <a:ext cx="382524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固定效应给的是平均响应，统计物理的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做法该怎么补（分布、标度、塌缩、模型）？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84570" y="3643312"/>
              <a:ext cx="3657600" cy="621983"/>
              <a:chOff x="6084570" y="3643312"/>
              <a:chExt cx="3657600" cy="621983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6084570" y="36433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469380" y="3686175"/>
                <a:ext cx="327279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需要补哪些数据？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人口、气温、雨量计观测、交通方式……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084570" y="4481512"/>
              <a:ext cx="1813560" cy="440055"/>
              <a:chOff x="6084570" y="4481512"/>
              <a:chExt cx="1813560" cy="440055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084570" y="44815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69380" y="45243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投稿方向的建议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096000" y="5410200"/>
            <a:ext cx="5562600" cy="914400"/>
            <a:chOff x="6096000" y="5410200"/>
            <a:chExt cx="5562600" cy="914400"/>
          </a:xfrm>
        </p:grpSpPr>
        <p:sp>
          <p:nvSpPr>
            <p:cNvPr id="51" name="Rectangle 51"/>
            <p:cNvSpPr/>
            <p:nvPr/>
          </p:nvSpPr>
          <p:spPr>
            <a:xfrm>
              <a:off x="6096000" y="5410200"/>
              <a:ext cx="55626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96000" y="5410200"/>
              <a:ext cx="381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16980" y="5591175"/>
              <a:ext cx="3114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我的初步判断：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Q2、Q3 价值高，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16980" y="5895975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而且现有数据就能做——但最想听老师的意见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64068"/>
            <a:ext cx="2880360" cy="2533649"/>
            <a:chOff x="598170" y="2064068"/>
            <a:chExt cx="2880360" cy="2533649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2064068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  <a:t>05 下一步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2495550"/>
              <a:ext cx="533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8170" y="2843212"/>
              <a:ext cx="2880360" cy="175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降雨是一个弱而普遍的</a:t>
              </a:r>
              <a:br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外场——</a:t>
              </a:r>
              <a:br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想把它的规律</a:t>
              </a:r>
              <a:br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用物理的语言讲清楚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81650" y="1733550"/>
            <a:ext cx="3711702" cy="4411789"/>
            <a:chOff x="5581650" y="1733550"/>
            <a:chExt cx="3711702" cy="4411789"/>
          </a:xfrm>
        </p:grpSpPr>
        <p:sp>
          <p:nvSpPr>
            <p:cNvPr id="7" name="Line 7"/>
            <p:cNvSpPr/>
            <p:nvPr/>
          </p:nvSpPr>
          <p:spPr>
            <a:xfrm>
              <a:off x="5715000" y="18669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5581650" y="1733550"/>
              <a:ext cx="3627882" cy="1058989"/>
              <a:chOff x="5581650" y="1733550"/>
              <a:chExt cx="3627882" cy="1058989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5581650" y="173355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048756" y="17487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近期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49518" y="2145982"/>
                <a:ext cx="316001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补气温控制和雨量计数据稳健性，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完善 TR Part D 实证稿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581650" y="3409950"/>
              <a:ext cx="3711702" cy="1058989"/>
              <a:chOff x="5581650" y="3409950"/>
              <a:chExt cx="3711702" cy="1058989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5581650" y="340995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048756" y="34251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按老师意见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049518" y="3822382"/>
                <a:ext cx="324383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挑 1–2 个标度律 / 统计物理问题，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先做最小可行分析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581650" y="5086350"/>
              <a:ext cx="2999232" cy="1058989"/>
              <a:chOff x="5581650" y="5086350"/>
              <a:chExt cx="2999232" cy="1058989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5581650" y="508635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048756" y="5101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之后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49518" y="5498782"/>
                <a:ext cx="253136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再定论文定位与投稿方向，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下次组会汇报</a:t>
                </a:r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11797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21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ain_mobility_advisor">
  <a:themeElements>
    <a:clrScheme name="rain_mobility_advisor">
      <a:dk1>
        <a:srgbClr val="1D2430"/>
      </a:dk1>
      <a:lt1>
        <a:srgbClr val="FFFFFF"/>
      </a:lt1>
      <a:dk2>
        <a:srgbClr val="1F497D"/>
      </a:dk2>
      <a:lt2>
        <a:srgbClr val="F3F5F7"/>
      </a:lt2>
      <a:accent1>
        <a:srgbClr val="1F3A5F"/>
      </a:accent1>
      <a:accent2>
        <a:srgbClr val="D9622B"/>
      </a:accent2>
      <a:accent3>
        <a:srgbClr val="2E7FB8"/>
      </a:accent3>
      <a:accent4>
        <a:srgbClr val="1F3A5F"/>
      </a:accent4>
      <a:accent5>
        <a:srgbClr val="5B6573"/>
      </a:accent5>
      <a:accent6>
        <a:srgbClr val="D5DAE0"/>
      </a:accent6>
      <a:hlink>
        <a:srgbClr val="D9622B"/>
      </a:hlink>
      <a:folHlink>
        <a:srgbClr val="2E7FB8"/>
      </a:folHlink>
    </a:clrScheme>
    <a:fontScheme name="rain_mobility_adviso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in_mobility_advis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ain_mobility_advisor">
  <a:themeElements>
    <a:clrScheme name="rain_mobility_advisor">
      <a:dk1>
        <a:srgbClr val="1D2430"/>
      </a:dk1>
      <a:lt1>
        <a:srgbClr val="FFFFFF"/>
      </a:lt1>
      <a:dk2>
        <a:srgbClr val="1F497D"/>
      </a:dk2>
      <a:lt2>
        <a:srgbClr val="F3F5F7"/>
      </a:lt2>
      <a:accent1>
        <a:srgbClr val="1F3A5F"/>
      </a:accent1>
      <a:accent2>
        <a:srgbClr val="D9622B"/>
      </a:accent2>
      <a:accent3>
        <a:srgbClr val="2E7FB8"/>
      </a:accent3>
      <a:accent4>
        <a:srgbClr val="1F3A5F"/>
      </a:accent4>
      <a:accent5>
        <a:srgbClr val="5B6573"/>
      </a:accent5>
      <a:accent6>
        <a:srgbClr val="D5DAE0"/>
      </a:accent6>
      <a:hlink>
        <a:srgbClr val="D9622B"/>
      </a:hlink>
      <a:folHlink>
        <a:srgbClr val="2E7FB8"/>
      </a:folHlink>
    </a:clrScheme>
    <a:fontScheme name="rain_mobility_adviso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in_mobility_advis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2026-10-18T15:21:09Z</dcterms:created>
  <dcterms:modified xsi:type="dcterms:W3CDTF">2026-10-18T15:21:09Z</dcterms:modified>
  <cp:category/>
  <cp:contentStatus/>
</cp:coreProperties>
</file>